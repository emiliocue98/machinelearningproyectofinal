
<file path=[Content_Types].xml><?xml version="1.0" encoding="utf-8"?>
<Types xmlns="http://schemas.openxmlformats.org/package/2006/content-types">
  <Default ContentType="application/vnd.openxmlformats-officedocument.spreadsheetml.sheet" Extension="xlsx"/>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h+2dcls6PQwZQeeF3JQOAcl0xH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15AD3DA-5F99-4432-9D27-C5EC6A7BA399}">
  <a:tblStyle styleId="{A15AD3DA-5F99-4432-9D27-C5EC6A7BA39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title>
      <c:tx>
        <c:rich>
          <a:bodyPr/>
          <a:lstStyle/>
          <a:p>
            <a:pPr>
              <a:defRPr sz="1800" b="0" i="0" u="none" strike="noStrike">
                <a:solidFill>
                  <a:srgbClr val="000000"/>
                </a:solidFill>
                <a:latin typeface="Arial"/>
              </a:defRPr>
            </a:pPr>
            <a:r>
              <a:rPr lang="es-MX" sz="1800" b="0" i="0" u="none" strike="noStrike">
                <a:solidFill>
                  <a:srgbClr val="000000"/>
                </a:solidFill>
                <a:latin typeface="Arial"/>
              </a:rPr>
              <a:t>Peso de cada variable en la prediccion del modelo</a:t>
            </a:r>
          </a:p>
        </c:rich>
      </c:tx>
      <c:overlay val="0"/>
    </c:title>
    <c:autoTitleDeleted val="0"/>
    <c:plotArea>
      <c:layout/>
      <c:barChart>
        <c:barDir val="bar"/>
        <c:grouping val="clustered"/>
        <c:varyColors val="0"/>
        <c:ser>
          <c:idx val="0"/>
          <c:order val="0"/>
          <c:tx>
            <c:strRef>
              <c:f>Sheet1!$B$1</c:f>
              <c:strCache>
                <c:ptCount val="1"/>
                <c:pt idx="0">
                  <c:v>Importancia</c:v>
                </c:pt>
              </c:strCache>
            </c:strRef>
          </c:tx>
          <c:spPr>
            <a:solidFill>
              <a:srgbClr val="028090"/>
            </a:solidFill>
            <a:effectLst/>
          </c:spPr>
          <c:invertIfNegative val="0"/>
          <c:dPt>
            <c:idx val="0"/>
            <c:invertIfNegative val="0"/>
            <c:bubble3D val="0"/>
            <c:extLst>
              <c:ext xmlns:c16="http://schemas.microsoft.com/office/drawing/2014/chart" uri="{C3380CC4-5D6E-409C-BE32-E72D297353CC}">
                <c16:uniqueId val="{00000001-E2C5-3946-AC1E-50DBB515E5F3}"/>
              </c:ext>
            </c:extLst>
          </c:dPt>
          <c:dPt>
            <c:idx val="1"/>
            <c:invertIfNegative val="0"/>
            <c:bubble3D val="0"/>
            <c:extLst>
              <c:ext xmlns:c16="http://schemas.microsoft.com/office/drawing/2014/chart" uri="{C3380CC4-5D6E-409C-BE32-E72D297353CC}">
                <c16:uniqueId val="{00000003-E2C5-3946-AC1E-50DBB515E5F3}"/>
              </c:ext>
            </c:extLst>
          </c:dPt>
          <c:dPt>
            <c:idx val="2"/>
            <c:invertIfNegative val="0"/>
            <c:bubble3D val="0"/>
            <c:extLst>
              <c:ext xmlns:c16="http://schemas.microsoft.com/office/drawing/2014/chart" uri="{C3380CC4-5D6E-409C-BE32-E72D297353CC}">
                <c16:uniqueId val="{00000005-E2C5-3946-AC1E-50DBB515E5F3}"/>
              </c:ext>
            </c:extLst>
          </c:dPt>
          <c:dPt>
            <c:idx val="3"/>
            <c:invertIfNegative val="0"/>
            <c:bubble3D val="0"/>
            <c:extLst>
              <c:ext xmlns:c16="http://schemas.microsoft.com/office/drawing/2014/chart" uri="{C3380CC4-5D6E-409C-BE32-E72D297353CC}">
                <c16:uniqueId val="{00000007-E2C5-3946-AC1E-50DBB515E5F3}"/>
              </c:ext>
            </c:extLst>
          </c:dPt>
          <c:dPt>
            <c:idx val="4"/>
            <c:invertIfNegative val="0"/>
            <c:bubble3D val="0"/>
            <c:extLst>
              <c:ext xmlns:c16="http://schemas.microsoft.com/office/drawing/2014/chart" uri="{C3380CC4-5D6E-409C-BE32-E72D297353CC}">
                <c16:uniqueId val="{00000009-E2C5-3946-AC1E-50DBB515E5F3}"/>
              </c:ext>
            </c:extLst>
          </c:dPt>
          <c:dPt>
            <c:idx val="5"/>
            <c:invertIfNegative val="0"/>
            <c:bubble3D val="0"/>
            <c:extLst>
              <c:ext xmlns:c16="http://schemas.microsoft.com/office/drawing/2014/chart" uri="{C3380CC4-5D6E-409C-BE32-E72D297353CC}">
                <c16:uniqueId val="{0000000B-E2C5-3946-AC1E-50DBB515E5F3}"/>
              </c:ext>
            </c:extLst>
          </c:dPt>
          <c:dPt>
            <c:idx val="6"/>
            <c:invertIfNegative val="0"/>
            <c:bubble3D val="0"/>
            <c:extLst>
              <c:ext xmlns:c16="http://schemas.microsoft.com/office/drawing/2014/chart" uri="{C3380CC4-5D6E-409C-BE32-E72D297353CC}">
                <c16:uniqueId val="{0000000D-E2C5-3946-AC1E-50DBB515E5F3}"/>
              </c:ext>
            </c:extLst>
          </c:dPt>
          <c:dPt>
            <c:idx val="7"/>
            <c:invertIfNegative val="0"/>
            <c:bubble3D val="0"/>
            <c:extLst>
              <c:ext xmlns:c16="http://schemas.microsoft.com/office/drawing/2014/chart" uri="{C3380CC4-5D6E-409C-BE32-E72D297353CC}">
                <c16:uniqueId val="{0000000F-E2C5-3946-AC1E-50DBB515E5F3}"/>
              </c:ext>
            </c:extLst>
          </c:dPt>
          <c:dPt>
            <c:idx val="8"/>
            <c:invertIfNegative val="0"/>
            <c:bubble3D val="0"/>
            <c:extLst>
              <c:ext xmlns:c16="http://schemas.microsoft.com/office/drawing/2014/chart" uri="{C3380CC4-5D6E-409C-BE32-E72D297353CC}">
                <c16:uniqueId val="{00000011-E2C5-3946-AC1E-50DBB515E5F3}"/>
              </c:ext>
            </c:extLst>
          </c:dPt>
          <c:dPt>
            <c:idx val="9"/>
            <c:invertIfNegative val="0"/>
            <c:bubble3D val="0"/>
            <c:extLst>
              <c:ext xmlns:c16="http://schemas.microsoft.com/office/drawing/2014/chart" uri="{C3380CC4-5D6E-409C-BE32-E72D297353CC}">
                <c16:uniqueId val="{00000013-E2C5-3946-AC1E-50DBB515E5F3}"/>
              </c:ext>
            </c:extLst>
          </c:dPt>
          <c:dLbls>
            <c:numFmt formatCode="#,##0" sourceLinked="0"/>
            <c:spPr>
              <a:noFill/>
              <a:ln>
                <a:noFill/>
              </a:ln>
              <a:effectLst/>
            </c:spPr>
            <c:txPr>
              <a:bodyPr/>
              <a:lstStyle/>
              <a:p>
                <a:pPr>
                  <a:defRPr sz="1200" b="0" i="0" u="none" strike="noStrike">
                    <a:solidFill>
                      <a:srgbClr val="1E293B"/>
                    </a:solidFill>
                    <a:latin typeface="Arial"/>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Edad</c:v>
                </c:pt>
                <c:pt idx="1">
                  <c:v>Glucosa</c:v>
                </c:pt>
                <c:pt idx="2">
                  <c:v>BMI faltante</c:v>
                </c:pt>
                <c:pt idx="3">
                  <c:v>Enf. cardiaca</c:v>
                </c:pt>
                <c:pt idx="4">
                  <c:v>Hipertension</c:v>
                </c:pt>
                <c:pt idx="5">
                  <c:v>IMC</c:v>
                </c:pt>
                <c:pt idx="6">
                  <c:v>Estado civil</c:v>
                </c:pt>
                <c:pt idx="7">
                  <c:v>Tabaco</c:v>
                </c:pt>
                <c:pt idx="8">
                  <c:v>Genero</c:v>
                </c:pt>
                <c:pt idx="9">
                  <c:v>Residencia</c:v>
                </c:pt>
              </c:strCache>
            </c:strRef>
          </c:cat>
          <c:val>
            <c:numRef>
              <c:f>Sheet1!$B$2:$B$11</c:f>
              <c:numCache>
                <c:formatCode>General</c:formatCode>
                <c:ptCount val="10"/>
                <c:pt idx="0">
                  <c:v>0.31</c:v>
                </c:pt>
                <c:pt idx="1">
                  <c:v>0.22</c:v>
                </c:pt>
                <c:pt idx="2">
                  <c:v>0.12</c:v>
                </c:pt>
                <c:pt idx="3">
                  <c:v>0.1</c:v>
                </c:pt>
                <c:pt idx="4">
                  <c:v>0.09</c:v>
                </c:pt>
                <c:pt idx="5">
                  <c:v>7.0000000000000007E-2</c:v>
                </c:pt>
                <c:pt idx="6">
                  <c:v>0.04</c:v>
                </c:pt>
                <c:pt idx="7">
                  <c:v>0.03</c:v>
                </c:pt>
                <c:pt idx="8">
                  <c:v>1.4999999999999999E-2</c:v>
                </c:pt>
                <c:pt idx="9">
                  <c:v>0.01</c:v>
                </c:pt>
              </c:numCache>
            </c:numRef>
          </c:val>
          <c:extLst>
            <c:ext xmlns:c16="http://schemas.microsoft.com/office/drawing/2014/chart" uri="{C3380CC4-5D6E-409C-BE32-E72D297353CC}">
              <c16:uniqueId val="{00000014-E2C5-3946-AC1E-50DBB515E5F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0F4F8"/>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 name="Google Shape;2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 name="Google Shape;21;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 name="Google Shape;3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0" name="Google Shape;40;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 name="Google Shape;90;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91" name="Google Shape;91;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 name="Google Shape;129;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30" name="Google Shape;130;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45" name="Google Shape;145;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64" name="Google Shape;164;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6" name="Google Shape;196;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97" name="Google Shape;197;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 name="Google Shape;22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26" name="Google Shape;226;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54" name="Google Shape;254;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F3C"/>
        </a:solidFill>
      </p:bgPr>
    </p:bg>
    <p:spTree>
      <p:nvGrpSpPr>
        <p:cNvPr id="11" name="Shape 11"/>
        <p:cNvGrpSpPr/>
        <p:nvPr/>
      </p:nvGrpSpPr>
      <p:grpSpPr>
        <a:xfrm>
          <a:off x="0" y="0"/>
          <a:ext cx="0" cy="0"/>
          <a:chOff x="0" y="0"/>
          <a:chExt cx="0" cy="0"/>
        </a:xfrm>
      </p:grpSpPr>
      <p:sp>
        <p:nvSpPr>
          <p:cNvPr id="12" name="Google Shape;12;p1"/>
          <p:cNvSpPr/>
          <p:nvPr/>
        </p:nvSpPr>
        <p:spPr>
          <a:xfrm>
            <a:off x="0" y="0"/>
            <a:ext cx="164592" cy="5143500"/>
          </a:xfrm>
          <a:prstGeom prst="rect">
            <a:avLst/>
          </a:prstGeom>
          <a:solidFill>
            <a:srgbClr val="028090"/>
          </a:solidFill>
          <a:ln cap="flat" cmpd="sng" w="12700">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 name="Google Shape;13;p1"/>
          <p:cNvSpPr/>
          <p:nvPr/>
        </p:nvSpPr>
        <p:spPr>
          <a:xfrm>
            <a:off x="6583680" y="-731520"/>
            <a:ext cx="3200400" cy="3200400"/>
          </a:xfrm>
          <a:prstGeom prst="ellipse">
            <a:avLst/>
          </a:prstGeom>
          <a:solidFill>
            <a:srgbClr val="028090">
              <a:alpha val="14901"/>
            </a:srgbClr>
          </a:solidFill>
          <a:ln cap="flat" cmpd="sng" w="12700">
            <a:solidFill>
              <a:srgbClr val="028090">
                <a:alpha val="14901"/>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 name="Google Shape;14;p1"/>
          <p:cNvSpPr/>
          <p:nvPr/>
        </p:nvSpPr>
        <p:spPr>
          <a:xfrm>
            <a:off x="457200" y="914400"/>
            <a:ext cx="82296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200"/>
              <a:buFont typeface="Calibri"/>
              <a:buNone/>
            </a:pPr>
            <a:r>
              <a:rPr b="1" lang="en-US" sz="3200">
                <a:solidFill>
                  <a:srgbClr val="FFFFFF"/>
                </a:solidFill>
                <a:latin typeface="Calibri"/>
                <a:ea typeface="Calibri"/>
                <a:cs typeface="Calibri"/>
                <a:sym typeface="Calibri"/>
              </a:rPr>
              <a:t>PREDICCIÓN DE RIESGO DE ACV</a:t>
            </a:r>
            <a:endParaRPr sz="3200">
              <a:solidFill>
                <a:schemeClr val="dk1"/>
              </a:solidFill>
              <a:latin typeface="Calibri"/>
              <a:ea typeface="Calibri"/>
              <a:cs typeface="Calibri"/>
              <a:sym typeface="Calibri"/>
            </a:endParaRPr>
          </a:p>
        </p:txBody>
      </p:sp>
      <p:sp>
        <p:nvSpPr>
          <p:cNvPr id="15" name="Google Shape;15;p1"/>
          <p:cNvSpPr/>
          <p:nvPr/>
        </p:nvSpPr>
        <p:spPr>
          <a:xfrm>
            <a:off x="457200" y="1691640"/>
            <a:ext cx="77724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2C39A"/>
              </a:buClr>
              <a:buSzPts val="1400"/>
              <a:buFont typeface="Calibri"/>
              <a:buNone/>
            </a:pPr>
            <a:r>
              <a:rPr i="1" lang="en-US" sz="1400">
                <a:solidFill>
                  <a:srgbClr val="02C39A"/>
                </a:solidFill>
                <a:latin typeface="Calibri"/>
                <a:ea typeface="Calibri"/>
                <a:cs typeface="Calibri"/>
                <a:sym typeface="Calibri"/>
              </a:rPr>
              <a:t>¿A qué pacientes debemos atender primero para prevenir un Accidente Cerebrovascular?</a:t>
            </a:r>
            <a:endParaRPr sz="1400">
              <a:solidFill>
                <a:schemeClr val="dk1"/>
              </a:solidFill>
              <a:latin typeface="Calibri"/>
              <a:ea typeface="Calibri"/>
              <a:cs typeface="Calibri"/>
              <a:sym typeface="Calibri"/>
            </a:endParaRPr>
          </a:p>
        </p:txBody>
      </p:sp>
      <p:cxnSp>
        <p:nvCxnSpPr>
          <p:cNvPr id="16" name="Google Shape;16;p1"/>
          <p:cNvCxnSpPr/>
          <p:nvPr/>
        </p:nvCxnSpPr>
        <p:spPr>
          <a:xfrm>
            <a:off x="457200" y="2377440"/>
            <a:ext cx="3657600" cy="0"/>
          </a:xfrm>
          <a:prstGeom prst="straightConnector1">
            <a:avLst/>
          </a:prstGeom>
          <a:noFill/>
          <a:ln cap="flat" cmpd="sng" w="19050">
            <a:solidFill>
              <a:srgbClr val="028090"/>
            </a:solidFill>
            <a:prstDash val="solid"/>
            <a:round/>
            <a:headEnd len="sm" w="sm" type="none"/>
            <a:tailEnd len="sm" w="sm" type="none"/>
          </a:ln>
        </p:spPr>
      </p:cxnSp>
      <p:sp>
        <p:nvSpPr>
          <p:cNvPr id="17" name="Google Shape;17;p1"/>
          <p:cNvSpPr/>
          <p:nvPr/>
        </p:nvSpPr>
        <p:spPr>
          <a:xfrm>
            <a:off x="457200" y="2560320"/>
            <a:ext cx="4572000" cy="10058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300"/>
              <a:buFont typeface="Calibri"/>
              <a:buNone/>
            </a:pPr>
            <a:r>
              <a:rPr lang="en-US" sz="1300">
                <a:solidFill>
                  <a:srgbClr val="CADCFC"/>
                </a:solidFill>
                <a:latin typeface="Calibri"/>
                <a:ea typeface="Calibri"/>
                <a:cs typeface="Calibri"/>
                <a:sym typeface="Calibri"/>
              </a:rPr>
              <a:t>Citlalli Izel Olmedo Paredes</a:t>
            </a:r>
            <a:endParaRPr/>
          </a:p>
          <a:p>
            <a:pPr indent="0" lvl="0" marL="0" marR="0" rtl="0" algn="l">
              <a:spcBef>
                <a:spcPts val="0"/>
              </a:spcBef>
              <a:spcAft>
                <a:spcPts val="0"/>
              </a:spcAft>
              <a:buClr>
                <a:srgbClr val="CADCFC"/>
              </a:buClr>
              <a:buSzPts val="1300"/>
              <a:buFont typeface="Calibri"/>
              <a:buNone/>
            </a:pPr>
            <a:r>
              <a:rPr lang="en-US" sz="1300">
                <a:solidFill>
                  <a:srgbClr val="CADCFC"/>
                </a:solidFill>
                <a:latin typeface="Calibri"/>
                <a:ea typeface="Calibri"/>
                <a:cs typeface="Calibri"/>
                <a:sym typeface="Calibri"/>
              </a:rPr>
              <a:t>Emilio Cue Funes</a:t>
            </a:r>
            <a:endParaRPr/>
          </a:p>
          <a:p>
            <a:pPr indent="0" lvl="0" marL="0" marR="0" rtl="0" algn="l">
              <a:spcBef>
                <a:spcPts val="0"/>
              </a:spcBef>
              <a:spcAft>
                <a:spcPts val="0"/>
              </a:spcAft>
              <a:buClr>
                <a:srgbClr val="CADCFC"/>
              </a:buClr>
              <a:buSzPts val="1300"/>
              <a:buFont typeface="Calibri"/>
              <a:buNone/>
            </a:pPr>
            <a:r>
              <a:rPr lang="en-US" sz="1300">
                <a:solidFill>
                  <a:srgbClr val="CADCFC"/>
                </a:solidFill>
                <a:latin typeface="Calibri"/>
                <a:ea typeface="Calibri"/>
                <a:cs typeface="Calibri"/>
                <a:sym typeface="Calibri"/>
              </a:rPr>
              <a:t>Gloria Janeth Esparza Martinez </a:t>
            </a:r>
            <a:endParaRPr/>
          </a:p>
          <a:p>
            <a:pPr indent="0" lvl="0" marL="0" marR="0" rtl="0" algn="l">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 name="Shape 22"/>
        <p:cNvGrpSpPr/>
        <p:nvPr/>
      </p:nvGrpSpPr>
      <p:grpSpPr>
        <a:xfrm>
          <a:off x="0" y="0"/>
          <a:ext cx="0" cy="0"/>
          <a:chOff x="0" y="0"/>
          <a:chExt cx="0" cy="0"/>
        </a:xfrm>
      </p:grpSpPr>
      <p:sp>
        <p:nvSpPr>
          <p:cNvPr id="23" name="Google Shape;23;p2"/>
          <p:cNvSpPr/>
          <p:nvPr/>
        </p:nvSpPr>
        <p:spPr>
          <a:xfrm>
            <a:off x="0" y="0"/>
            <a:ext cx="9144000" cy="819300"/>
          </a:xfrm>
          <a:prstGeom prst="rect">
            <a:avLst/>
          </a:prstGeom>
          <a:solidFill>
            <a:srgbClr val="0D1F3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 name="Google Shape;24;p2"/>
          <p:cNvSpPr txBox="1"/>
          <p:nvPr/>
        </p:nvSpPr>
        <p:spPr>
          <a:xfrm>
            <a:off x="381000" y="0"/>
            <a:ext cx="8382000" cy="819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FFFFFF"/>
                </a:solidFill>
                <a:latin typeface="Calibri"/>
                <a:ea typeface="Calibri"/>
                <a:cs typeface="Calibri"/>
                <a:sym typeface="Calibri"/>
              </a:rPr>
              <a:t>¿CUÁL ES EL PROBLEMA QUE RESOLVEMOS?</a:t>
            </a:r>
            <a:endParaRPr b="1" sz="2400">
              <a:solidFill>
                <a:srgbClr val="FFFFFF"/>
              </a:solidFill>
              <a:latin typeface="Calibri"/>
              <a:ea typeface="Calibri"/>
              <a:cs typeface="Calibri"/>
              <a:sym typeface="Calibri"/>
            </a:endParaRPr>
          </a:p>
        </p:txBody>
      </p:sp>
      <p:grpSp>
        <p:nvGrpSpPr>
          <p:cNvPr id="25" name="Google Shape;25;p2"/>
          <p:cNvGrpSpPr/>
          <p:nvPr/>
        </p:nvGrpSpPr>
        <p:grpSpPr>
          <a:xfrm>
            <a:off x="380981" y="4297125"/>
            <a:ext cx="8381798" cy="699649"/>
            <a:chOff x="381000" y="1047750"/>
            <a:chExt cx="4048200" cy="3619500"/>
          </a:xfrm>
        </p:grpSpPr>
        <p:sp>
          <p:nvSpPr>
            <p:cNvPr id="26" name="Google Shape;26;p2"/>
            <p:cNvSpPr/>
            <p:nvPr/>
          </p:nvSpPr>
          <p:spPr>
            <a:xfrm>
              <a:off x="381000" y="1047750"/>
              <a:ext cx="4048200" cy="3619500"/>
            </a:xfrm>
            <a:prstGeom prst="roundRect">
              <a:avLst>
                <a:gd fmla="val 263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 name="Google Shape;27;p2"/>
            <p:cNvSpPr/>
            <p:nvPr/>
          </p:nvSpPr>
          <p:spPr>
            <a:xfrm>
              <a:off x="381000" y="1047750"/>
              <a:ext cx="4048200" cy="57300"/>
            </a:xfrm>
            <a:prstGeom prst="roundRect">
              <a:avLst>
                <a:gd fmla="val 50000" name="adj"/>
              </a:avLst>
            </a:prstGeom>
            <a:solidFill>
              <a:srgbClr val="0280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 name="Google Shape;28;p2"/>
            <p:cNvSpPr txBox="1"/>
            <p:nvPr/>
          </p:nvSpPr>
          <p:spPr>
            <a:xfrm>
              <a:off x="453238" y="1238258"/>
              <a:ext cx="38841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1125"/>
                </a:spcAft>
                <a:buNone/>
              </a:pPr>
              <a:r>
                <a:rPr b="1" lang="en-US">
                  <a:solidFill>
                    <a:srgbClr val="0D1F3C"/>
                  </a:solidFill>
                  <a:latin typeface="Calibri"/>
                  <a:ea typeface="Calibri"/>
                  <a:cs typeface="Calibri"/>
                  <a:sym typeface="Calibri"/>
                </a:rPr>
                <a:t>ACV: </a:t>
              </a:r>
              <a:r>
                <a:rPr lang="en-US" sz="1100">
                  <a:solidFill>
                    <a:srgbClr val="334155"/>
                  </a:solidFill>
                  <a:latin typeface="Calibri"/>
                  <a:ea typeface="Calibri"/>
                  <a:cs typeface="Calibri"/>
                  <a:sym typeface="Calibri"/>
                </a:rPr>
                <a:t>El accidente cerebrovascular (ACV) es una condición médica grave que ocurre cuando el flujo sanguíneo hacia una parte del cerebro se interrumpe, provocando daño en las células cerebrales por falta de oxígeno. Es una de las principales causas de muerte y discapacidad a nivel mundial. Existe la detección temprana de pacientes vulnerables o predispuestos a sufrir ACV.</a:t>
              </a:r>
              <a:endParaRPr sz="1100">
                <a:solidFill>
                  <a:srgbClr val="334155"/>
                </a:solidFill>
                <a:latin typeface="Calibri"/>
                <a:ea typeface="Calibri"/>
                <a:cs typeface="Calibri"/>
                <a:sym typeface="Calibri"/>
              </a:endParaRPr>
            </a:p>
          </p:txBody>
        </p:sp>
      </p:grpSp>
      <p:grpSp>
        <p:nvGrpSpPr>
          <p:cNvPr id="29" name="Google Shape;29;p2"/>
          <p:cNvGrpSpPr/>
          <p:nvPr/>
        </p:nvGrpSpPr>
        <p:grpSpPr>
          <a:xfrm>
            <a:off x="4714875" y="1047750"/>
            <a:ext cx="4048200" cy="2970524"/>
            <a:chOff x="4714875" y="1047750"/>
            <a:chExt cx="4048200" cy="3619500"/>
          </a:xfrm>
        </p:grpSpPr>
        <p:sp>
          <p:nvSpPr>
            <p:cNvPr id="30" name="Google Shape;30;p2"/>
            <p:cNvSpPr/>
            <p:nvPr/>
          </p:nvSpPr>
          <p:spPr>
            <a:xfrm>
              <a:off x="4714875" y="1047750"/>
              <a:ext cx="4048200" cy="3619500"/>
            </a:xfrm>
            <a:prstGeom prst="roundRect">
              <a:avLst>
                <a:gd fmla="val 263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 name="Google Shape;31;p2"/>
            <p:cNvSpPr/>
            <p:nvPr/>
          </p:nvSpPr>
          <p:spPr>
            <a:xfrm>
              <a:off x="4714875" y="1047750"/>
              <a:ext cx="4048200" cy="57300"/>
            </a:xfrm>
            <a:prstGeom prst="roundRect">
              <a:avLst>
                <a:gd fmla="val 50000" name="adj"/>
              </a:avLst>
            </a:prstGeom>
            <a:solidFill>
              <a:srgbClr val="02C39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 name="Google Shape;32;p2"/>
            <p:cNvSpPr txBox="1"/>
            <p:nvPr/>
          </p:nvSpPr>
          <p:spPr>
            <a:xfrm>
              <a:off x="4905375" y="1238250"/>
              <a:ext cx="36672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400">
                  <a:solidFill>
                    <a:srgbClr val="0D1F3C"/>
                  </a:solidFill>
                  <a:latin typeface="Calibri"/>
                  <a:ea typeface="Calibri"/>
                  <a:cs typeface="Calibri"/>
                  <a:sym typeface="Calibri"/>
                </a:rPr>
                <a:t>Nuestra Propuesta</a:t>
              </a:r>
              <a:endParaRPr b="1" sz="1400">
                <a:solidFill>
                  <a:srgbClr val="0D1F3C"/>
                </a:solidFill>
                <a:latin typeface="Calibri"/>
                <a:ea typeface="Calibri"/>
                <a:cs typeface="Calibri"/>
                <a:sym typeface="Calibri"/>
              </a:endParaRPr>
            </a:p>
            <a:p>
              <a:pPr indent="0" lvl="0" marL="0" rtl="0" algn="l">
                <a:spcBef>
                  <a:spcPts val="1125"/>
                </a:spcBef>
                <a:spcAft>
                  <a:spcPts val="0"/>
                </a:spcAft>
                <a:buNone/>
              </a:pPr>
              <a:r>
                <a:rPr lang="en-US" sz="1100">
                  <a:solidFill>
                    <a:srgbClr val="334155"/>
                  </a:solidFill>
                  <a:latin typeface="Calibri"/>
                  <a:ea typeface="Calibri"/>
                  <a:cs typeface="Calibri"/>
                  <a:sym typeface="Calibri"/>
                </a:rPr>
                <a:t>Implementar un modelo de Machine Learning que analice datos clínicos (edad, glucosa, presión, etc.) para predecir el riesgo de ACV automáticamente.</a:t>
              </a:r>
              <a:endParaRPr sz="1100">
                <a:solidFill>
                  <a:srgbClr val="334155"/>
                </a:solidFill>
                <a:latin typeface="Calibri"/>
                <a:ea typeface="Calibri"/>
                <a:cs typeface="Calibri"/>
                <a:sym typeface="Calibri"/>
              </a:endParaRPr>
            </a:p>
            <a:p>
              <a:pPr indent="0" lvl="0" marL="0" rtl="0" algn="l">
                <a:spcBef>
                  <a:spcPts val="1500"/>
                </a:spcBef>
                <a:spcAft>
                  <a:spcPts val="0"/>
                </a:spcAft>
                <a:buNone/>
              </a:pPr>
              <a:r>
                <a:rPr b="1" lang="en-US" sz="1100">
                  <a:solidFill>
                    <a:srgbClr val="0D1F3C"/>
                  </a:solidFill>
                  <a:latin typeface="Calibri"/>
                  <a:ea typeface="Calibri"/>
                  <a:cs typeface="Calibri"/>
                  <a:sym typeface="Calibri"/>
                </a:rPr>
                <a:t>Beneficio para el médico: </a:t>
              </a:r>
              <a:r>
                <a:rPr lang="en-US" sz="1100">
                  <a:solidFill>
                    <a:srgbClr val="0D1F3C"/>
                  </a:solidFill>
                  <a:latin typeface="Calibri"/>
                  <a:ea typeface="Calibri"/>
                  <a:cs typeface="Calibri"/>
                  <a:sym typeface="Calibri"/>
                </a:rPr>
                <a:t>Optimiza la toma de decisiones y prioriza el cuidado preventivo.</a:t>
              </a:r>
              <a:endParaRPr sz="1100">
                <a:solidFill>
                  <a:srgbClr val="0D1F3C"/>
                </a:solidFill>
                <a:latin typeface="Calibri"/>
                <a:ea typeface="Calibri"/>
                <a:cs typeface="Calibri"/>
                <a:sym typeface="Calibri"/>
              </a:endParaRPr>
            </a:p>
            <a:p>
              <a:pPr indent="0" lvl="0" marL="0" rtl="0" algn="l">
                <a:spcBef>
                  <a:spcPts val="1125"/>
                </a:spcBef>
                <a:spcAft>
                  <a:spcPts val="0"/>
                </a:spcAft>
                <a:buNone/>
              </a:pPr>
              <a:r>
                <a:t/>
              </a:r>
              <a:endParaRPr b="1" sz="1100">
                <a:solidFill>
                  <a:srgbClr val="0D1F3C"/>
                </a:solidFill>
                <a:latin typeface="Calibri"/>
                <a:ea typeface="Calibri"/>
                <a:cs typeface="Calibri"/>
                <a:sym typeface="Calibri"/>
              </a:endParaRPr>
            </a:p>
            <a:p>
              <a:pPr indent="0" lvl="0" marL="0" rtl="0" algn="l">
                <a:spcBef>
                  <a:spcPts val="1125"/>
                </a:spcBef>
                <a:spcAft>
                  <a:spcPts val="0"/>
                </a:spcAft>
                <a:buNone/>
              </a:pPr>
              <a:r>
                <a:rPr b="1" lang="en-US" sz="1100">
                  <a:solidFill>
                    <a:srgbClr val="065F46"/>
                  </a:solidFill>
                  <a:highlight>
                    <a:srgbClr val="ECFDF5"/>
                  </a:highlight>
                  <a:latin typeface="Calibri"/>
                  <a:ea typeface="Calibri"/>
                  <a:cs typeface="Calibri"/>
                  <a:sym typeface="Calibri"/>
                </a:rPr>
                <a:t>Pregunta Clave:</a:t>
              </a:r>
              <a:endParaRPr b="1" sz="1100">
                <a:solidFill>
                  <a:srgbClr val="065F46"/>
                </a:solidFill>
                <a:highlight>
                  <a:srgbClr val="ECFDF5"/>
                </a:highlight>
                <a:latin typeface="Calibri"/>
                <a:ea typeface="Calibri"/>
                <a:cs typeface="Calibri"/>
                <a:sym typeface="Calibri"/>
              </a:endParaRPr>
            </a:p>
            <a:p>
              <a:pPr indent="0" lvl="0" marL="0" rtl="0" algn="l">
                <a:spcBef>
                  <a:spcPts val="375"/>
                </a:spcBef>
                <a:spcAft>
                  <a:spcPts val="0"/>
                </a:spcAft>
                <a:buNone/>
              </a:pPr>
              <a:r>
                <a:rPr i="1" lang="en-US" sz="1200">
                  <a:solidFill>
                    <a:srgbClr val="047857"/>
                  </a:solidFill>
                  <a:highlight>
                    <a:srgbClr val="ECFDF5"/>
                  </a:highlight>
                  <a:latin typeface="Calibri"/>
                  <a:ea typeface="Calibri"/>
                  <a:cs typeface="Calibri"/>
                  <a:sym typeface="Calibri"/>
                </a:rPr>
                <a:t>¿A quién inscribimos primero en el programa de prevención?</a:t>
              </a:r>
              <a:endParaRPr i="1" sz="1200">
                <a:solidFill>
                  <a:srgbClr val="047857"/>
                </a:solidFill>
                <a:highlight>
                  <a:srgbClr val="ECFDF5"/>
                </a:highlight>
                <a:latin typeface="Calibri"/>
                <a:ea typeface="Calibri"/>
                <a:cs typeface="Calibri"/>
                <a:sym typeface="Calibri"/>
              </a:endParaRPr>
            </a:p>
            <a:p>
              <a:pPr indent="0" lvl="0" marL="0" rtl="0" algn="l">
                <a:spcBef>
                  <a:spcPts val="1500"/>
                </a:spcBef>
                <a:spcAft>
                  <a:spcPts val="0"/>
                </a:spcAft>
                <a:buNone/>
              </a:pPr>
              <a:r>
                <a:t/>
              </a:r>
              <a:endParaRPr sz="1100">
                <a:solidFill>
                  <a:srgbClr val="334155"/>
                </a:solidFill>
                <a:latin typeface="Calibri"/>
                <a:ea typeface="Calibri"/>
                <a:cs typeface="Calibri"/>
                <a:sym typeface="Calibri"/>
              </a:endParaRPr>
            </a:p>
          </p:txBody>
        </p:sp>
      </p:grpSp>
      <p:grpSp>
        <p:nvGrpSpPr>
          <p:cNvPr id="33" name="Google Shape;33;p2"/>
          <p:cNvGrpSpPr/>
          <p:nvPr/>
        </p:nvGrpSpPr>
        <p:grpSpPr>
          <a:xfrm>
            <a:off x="381000" y="1000786"/>
            <a:ext cx="4048200" cy="3042686"/>
            <a:chOff x="381000" y="959822"/>
            <a:chExt cx="4048200" cy="3707428"/>
          </a:xfrm>
        </p:grpSpPr>
        <p:sp>
          <p:nvSpPr>
            <p:cNvPr id="34" name="Google Shape;34;p2"/>
            <p:cNvSpPr/>
            <p:nvPr/>
          </p:nvSpPr>
          <p:spPr>
            <a:xfrm>
              <a:off x="381000" y="1047750"/>
              <a:ext cx="4048200" cy="3619500"/>
            </a:xfrm>
            <a:prstGeom prst="roundRect">
              <a:avLst>
                <a:gd fmla="val 263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 name="Google Shape;35;p2"/>
            <p:cNvSpPr/>
            <p:nvPr/>
          </p:nvSpPr>
          <p:spPr>
            <a:xfrm>
              <a:off x="381000" y="959822"/>
              <a:ext cx="4048200" cy="57300"/>
            </a:xfrm>
            <a:prstGeom prst="roundRect">
              <a:avLst>
                <a:gd fmla="val 50000" name="adj"/>
              </a:avLst>
            </a:prstGeom>
            <a:solidFill>
              <a:srgbClr val="02809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 name="Google Shape;36;p2"/>
            <p:cNvSpPr txBox="1"/>
            <p:nvPr/>
          </p:nvSpPr>
          <p:spPr>
            <a:xfrm>
              <a:off x="571500" y="1238250"/>
              <a:ext cx="36672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400">
                  <a:solidFill>
                    <a:srgbClr val="0D1F3C"/>
                  </a:solidFill>
                  <a:latin typeface="Calibri"/>
                  <a:ea typeface="Calibri"/>
                  <a:cs typeface="Calibri"/>
                  <a:sym typeface="Calibri"/>
                </a:rPr>
                <a:t>La Situación Actual</a:t>
              </a:r>
              <a:endParaRPr b="1" sz="1400">
                <a:solidFill>
                  <a:srgbClr val="0D1F3C"/>
                </a:solidFill>
                <a:latin typeface="Calibri"/>
                <a:ea typeface="Calibri"/>
                <a:cs typeface="Calibri"/>
                <a:sym typeface="Calibri"/>
              </a:endParaRPr>
            </a:p>
            <a:p>
              <a:pPr indent="0" lvl="0" marL="0" rtl="0" algn="l">
                <a:spcBef>
                  <a:spcPts val="1125"/>
                </a:spcBef>
                <a:spcAft>
                  <a:spcPts val="0"/>
                </a:spcAft>
                <a:buNone/>
              </a:pPr>
              <a:r>
                <a:rPr lang="en-US" sz="1100">
                  <a:solidFill>
                    <a:srgbClr val="334155"/>
                  </a:solidFill>
                  <a:latin typeface="Calibri"/>
                  <a:ea typeface="Calibri"/>
                  <a:cs typeface="Calibri"/>
                  <a:sym typeface="Calibri"/>
                </a:rPr>
                <a:t>Una clínica de medicina preventiva busca inscribir pacientes en programas de cuidado (presión arterial, dieta, etc.) para prevenir ACV.</a:t>
              </a:r>
              <a:endParaRPr sz="1100">
                <a:solidFill>
                  <a:srgbClr val="334155"/>
                </a:solidFill>
                <a:latin typeface="Calibri"/>
                <a:ea typeface="Calibri"/>
                <a:cs typeface="Calibri"/>
                <a:sym typeface="Calibri"/>
              </a:endParaRPr>
            </a:p>
            <a:p>
              <a:pPr indent="0" lvl="0" marL="0" rtl="0" algn="l">
                <a:spcBef>
                  <a:spcPts val="1500"/>
                </a:spcBef>
                <a:spcAft>
                  <a:spcPts val="0"/>
                </a:spcAft>
                <a:buNone/>
              </a:pPr>
              <a:r>
                <a:rPr b="1" lang="en-US" sz="1100">
                  <a:solidFill>
                    <a:srgbClr val="0D1F3C"/>
                  </a:solidFill>
                  <a:latin typeface="Calibri"/>
                  <a:ea typeface="Calibri"/>
                  <a:cs typeface="Calibri"/>
                  <a:sym typeface="Calibri"/>
                </a:rPr>
                <a:t>El Problema:</a:t>
              </a:r>
              <a:endParaRPr b="1" sz="1100">
                <a:solidFill>
                  <a:srgbClr val="0D1F3C"/>
                </a:solidFill>
                <a:latin typeface="Calibri"/>
                <a:ea typeface="Calibri"/>
                <a:cs typeface="Calibri"/>
                <a:sym typeface="Calibri"/>
              </a:endParaRPr>
            </a:p>
            <a:p>
              <a:pPr indent="0" lvl="0" marL="0" rtl="0" algn="l">
                <a:spcBef>
                  <a:spcPts val="750"/>
                </a:spcBef>
                <a:spcAft>
                  <a:spcPts val="0"/>
                </a:spcAft>
                <a:buNone/>
              </a:pPr>
              <a:r>
                <a:rPr lang="en-US" sz="1100">
                  <a:solidFill>
                    <a:srgbClr val="334155"/>
                  </a:solidFill>
                  <a:highlight>
                    <a:srgbClr val="FEE2E2"/>
                  </a:highlight>
                  <a:latin typeface="Calibri"/>
                  <a:ea typeface="Calibri"/>
                  <a:cs typeface="Calibri"/>
                  <a:sym typeface="Calibri"/>
                </a:rPr>
                <a:t>Los recursos limitados no permiten atender a todos al mismo tiempo.</a:t>
              </a:r>
              <a:endParaRPr sz="1100">
                <a:solidFill>
                  <a:srgbClr val="334155"/>
                </a:solidFill>
                <a:highlight>
                  <a:srgbClr val="FEE2E2"/>
                </a:highlight>
                <a:latin typeface="Calibri"/>
                <a:ea typeface="Calibri"/>
                <a:cs typeface="Calibri"/>
                <a:sym typeface="Calibri"/>
              </a:endParaRPr>
            </a:p>
            <a:p>
              <a:pPr indent="0" lvl="0" marL="0" rtl="0" algn="l">
                <a:spcBef>
                  <a:spcPts val="1500"/>
                </a:spcBef>
                <a:spcAft>
                  <a:spcPts val="0"/>
                </a:spcAft>
                <a:buNone/>
              </a:pPr>
              <a:r>
                <a:rPr b="1" lang="en-US" sz="1100">
                  <a:solidFill>
                    <a:srgbClr val="334155"/>
                  </a:solidFill>
                  <a:latin typeface="Calibri"/>
                  <a:ea typeface="Calibri"/>
                  <a:cs typeface="Calibri"/>
                  <a:sym typeface="Calibri"/>
                </a:rPr>
                <a:t>Consecuencias:</a:t>
              </a:r>
              <a:endParaRPr b="1" sz="1100">
                <a:solidFill>
                  <a:srgbClr val="334155"/>
                </a:solidFill>
                <a:latin typeface="Calibri"/>
                <a:ea typeface="Calibri"/>
                <a:cs typeface="Calibri"/>
                <a:sym typeface="Calibri"/>
              </a:endParaRPr>
            </a:p>
            <a:p>
              <a:pPr indent="-298450" lvl="0" marL="457200" rtl="0" algn="l">
                <a:spcBef>
                  <a:spcPts val="750"/>
                </a:spcBef>
                <a:spcAft>
                  <a:spcPts val="0"/>
                </a:spcAft>
                <a:buClr>
                  <a:srgbClr val="334155"/>
                </a:buClr>
                <a:buSzPts val="1100"/>
                <a:buFont typeface="Calibri"/>
                <a:buChar char="●"/>
              </a:pPr>
              <a:r>
                <a:rPr lang="en-US" sz="1100">
                  <a:solidFill>
                    <a:srgbClr val="334155"/>
                  </a:solidFill>
                  <a:latin typeface="Calibri"/>
                  <a:ea typeface="Calibri"/>
                  <a:cs typeface="Calibri"/>
                  <a:sym typeface="Calibri"/>
                </a:rPr>
                <a:t>Pacientes de alto riesgo sin atención oportuna.</a:t>
              </a:r>
              <a:endParaRPr sz="1100">
                <a:solidFill>
                  <a:srgbClr val="334155"/>
                </a:solidFill>
                <a:latin typeface="Calibri"/>
                <a:ea typeface="Calibri"/>
                <a:cs typeface="Calibri"/>
                <a:sym typeface="Calibri"/>
              </a:endParaRPr>
            </a:p>
            <a:p>
              <a:pPr indent="-298450" lvl="0" marL="457200" rtl="0" algn="l">
                <a:spcBef>
                  <a:spcPts val="750"/>
                </a:spcBef>
                <a:spcAft>
                  <a:spcPts val="0"/>
                </a:spcAft>
                <a:buClr>
                  <a:srgbClr val="334155"/>
                </a:buClr>
                <a:buSzPts val="1100"/>
                <a:buFont typeface="Calibri"/>
                <a:buChar char="●"/>
              </a:pPr>
              <a:r>
                <a:rPr lang="en-US" sz="1100">
                  <a:solidFill>
                    <a:srgbClr val="334155"/>
                  </a:solidFill>
                  <a:latin typeface="Calibri"/>
                  <a:ea typeface="Calibri"/>
                  <a:cs typeface="Calibri"/>
                  <a:sym typeface="Calibri"/>
                </a:rPr>
                <a:t>Recursos desperdiciados en casos no urgentes.</a:t>
              </a:r>
              <a:endParaRPr sz="1100">
                <a:solidFill>
                  <a:srgbClr val="334155"/>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41" name="Shape 41"/>
        <p:cNvGrpSpPr/>
        <p:nvPr/>
      </p:nvGrpSpPr>
      <p:grpSpPr>
        <a:xfrm>
          <a:off x="0" y="0"/>
          <a:ext cx="0" cy="0"/>
          <a:chOff x="0" y="0"/>
          <a:chExt cx="0" cy="0"/>
        </a:xfrm>
      </p:grpSpPr>
      <p:sp>
        <p:nvSpPr>
          <p:cNvPr id="42" name="Google Shape;42;p3"/>
          <p:cNvSpPr/>
          <p:nvPr/>
        </p:nvSpPr>
        <p:spPr>
          <a:xfrm>
            <a:off x="0" y="0"/>
            <a:ext cx="9144000" cy="822960"/>
          </a:xfrm>
          <a:prstGeom prst="rect">
            <a:avLst/>
          </a:prstGeom>
          <a:solidFill>
            <a:srgbClr val="0D1F3C"/>
          </a:solidFill>
          <a:ln cap="flat" cmpd="sng" w="12700">
            <a:solidFill>
              <a:srgbClr val="0D1F3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 name="Google Shape;43;p3"/>
          <p:cNvSpPr/>
          <p:nvPr/>
        </p:nvSpPr>
        <p:spPr>
          <a:xfrm>
            <a:off x="365760" y="0"/>
            <a:ext cx="82296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¿CON </a:t>
            </a:r>
            <a:r>
              <a:rPr b="1" lang="en-US" sz="2200">
                <a:solidFill>
                  <a:srgbClr val="FFFFFF"/>
                </a:solidFill>
                <a:latin typeface="Calibri"/>
                <a:ea typeface="Calibri"/>
                <a:cs typeface="Calibri"/>
                <a:sym typeface="Calibri"/>
              </a:rPr>
              <a:t>QUÉ</a:t>
            </a:r>
            <a:r>
              <a:rPr b="1" lang="en-US" sz="2200">
                <a:solidFill>
                  <a:srgbClr val="FFFFFF"/>
                </a:solidFill>
                <a:latin typeface="Calibri"/>
                <a:ea typeface="Calibri"/>
                <a:cs typeface="Calibri"/>
                <a:sym typeface="Calibri"/>
              </a:rPr>
              <a:t> DATOS TRABAJAMOS?</a:t>
            </a:r>
            <a:endParaRPr sz="2200">
              <a:solidFill>
                <a:schemeClr val="dk1"/>
              </a:solidFill>
              <a:latin typeface="Calibri"/>
              <a:ea typeface="Calibri"/>
              <a:cs typeface="Calibri"/>
              <a:sym typeface="Calibri"/>
            </a:endParaRPr>
          </a:p>
        </p:txBody>
      </p:sp>
      <p:sp>
        <p:nvSpPr>
          <p:cNvPr id="44" name="Google Shape;44;p3"/>
          <p:cNvSpPr/>
          <p:nvPr/>
        </p:nvSpPr>
        <p:spPr>
          <a:xfrm>
            <a:off x="274320" y="896112"/>
            <a:ext cx="85953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100"/>
              <a:buFont typeface="Calibri"/>
              <a:buNone/>
            </a:pPr>
            <a:r>
              <a:rPr i="1" lang="en-US" sz="1100">
                <a:solidFill>
                  <a:srgbClr val="64748B"/>
                </a:solidFill>
                <a:latin typeface="Calibri"/>
                <a:ea typeface="Calibri"/>
                <a:cs typeface="Calibri"/>
                <a:sym typeface="Calibri"/>
              </a:rPr>
              <a:t>Stroke Prediction Dataset — Kaggle (fedesoriano). Registros de pacientes adultos con variables </a:t>
            </a:r>
            <a:r>
              <a:rPr i="1" lang="en-US" sz="1100">
                <a:solidFill>
                  <a:srgbClr val="64748B"/>
                </a:solidFill>
                <a:latin typeface="Calibri"/>
                <a:ea typeface="Calibri"/>
                <a:cs typeface="Calibri"/>
                <a:sym typeface="Calibri"/>
              </a:rPr>
              <a:t>clínicas</a:t>
            </a:r>
            <a:r>
              <a:rPr i="1" lang="en-US" sz="1100">
                <a:solidFill>
                  <a:srgbClr val="64748B"/>
                </a:solidFill>
                <a:latin typeface="Calibri"/>
                <a:ea typeface="Calibri"/>
                <a:cs typeface="Calibri"/>
                <a:sym typeface="Calibri"/>
              </a:rPr>
              <a:t> y de estilo de vida.</a:t>
            </a:r>
            <a:endParaRPr sz="1100">
              <a:solidFill>
                <a:schemeClr val="dk1"/>
              </a:solidFill>
              <a:latin typeface="Calibri"/>
              <a:ea typeface="Calibri"/>
              <a:cs typeface="Calibri"/>
              <a:sym typeface="Calibri"/>
            </a:endParaRPr>
          </a:p>
        </p:txBody>
      </p:sp>
      <p:sp>
        <p:nvSpPr>
          <p:cNvPr id="45" name="Google Shape;45;p3"/>
          <p:cNvSpPr/>
          <p:nvPr/>
        </p:nvSpPr>
        <p:spPr>
          <a:xfrm>
            <a:off x="274320" y="1280160"/>
            <a:ext cx="1920240" cy="1188720"/>
          </a:xfrm>
          <a:prstGeom prst="rect">
            <a:avLst/>
          </a:prstGeom>
          <a:solidFill>
            <a:srgbClr val="0D1F3C"/>
          </a:solidFill>
          <a:ln cap="flat" cmpd="sng" w="12700">
            <a:solidFill>
              <a:srgbClr val="0D1F3C"/>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 name="Google Shape;46;p3"/>
          <p:cNvSpPr/>
          <p:nvPr/>
        </p:nvSpPr>
        <p:spPr>
          <a:xfrm>
            <a:off x="274320" y="1325880"/>
            <a:ext cx="192024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2C39A"/>
              </a:buClr>
              <a:buSzPts val="2600"/>
              <a:buFont typeface="Calibri"/>
              <a:buNone/>
            </a:pPr>
            <a:r>
              <a:rPr b="1" lang="en-US" sz="2600">
                <a:solidFill>
                  <a:srgbClr val="02C39A"/>
                </a:solidFill>
                <a:latin typeface="Calibri"/>
                <a:ea typeface="Calibri"/>
                <a:cs typeface="Calibri"/>
                <a:sym typeface="Calibri"/>
              </a:rPr>
              <a:t>4,253</a:t>
            </a:r>
            <a:endParaRPr sz="2600">
              <a:solidFill>
                <a:schemeClr val="dk1"/>
              </a:solidFill>
              <a:latin typeface="Calibri"/>
              <a:ea typeface="Calibri"/>
              <a:cs typeface="Calibri"/>
              <a:sym typeface="Calibri"/>
            </a:endParaRPr>
          </a:p>
        </p:txBody>
      </p:sp>
      <p:sp>
        <p:nvSpPr>
          <p:cNvPr id="47" name="Google Shape;47;p3"/>
          <p:cNvSpPr/>
          <p:nvPr/>
        </p:nvSpPr>
        <p:spPr>
          <a:xfrm>
            <a:off x="274320" y="1965960"/>
            <a:ext cx="192024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ADCFC"/>
              </a:buClr>
              <a:buSzPts val="1000"/>
              <a:buFont typeface="Calibri"/>
              <a:buNone/>
            </a:pPr>
            <a:r>
              <a:rPr lang="en-US" sz="1000">
                <a:solidFill>
                  <a:srgbClr val="CADCFC"/>
                </a:solidFill>
                <a:latin typeface="Calibri"/>
                <a:ea typeface="Calibri"/>
                <a:cs typeface="Calibri"/>
                <a:sym typeface="Calibri"/>
              </a:rPr>
              <a:t>Pacientes adultos estudiados</a:t>
            </a:r>
            <a:endParaRPr sz="1000">
              <a:solidFill>
                <a:schemeClr val="dk1"/>
              </a:solidFill>
              <a:latin typeface="Calibri"/>
              <a:ea typeface="Calibri"/>
              <a:cs typeface="Calibri"/>
              <a:sym typeface="Calibri"/>
            </a:endParaRPr>
          </a:p>
        </p:txBody>
      </p:sp>
      <p:sp>
        <p:nvSpPr>
          <p:cNvPr id="48" name="Google Shape;48;p3"/>
          <p:cNvSpPr/>
          <p:nvPr/>
        </p:nvSpPr>
        <p:spPr>
          <a:xfrm>
            <a:off x="2450592" y="1280160"/>
            <a:ext cx="1920240" cy="1188720"/>
          </a:xfrm>
          <a:prstGeom prst="rect">
            <a:avLst/>
          </a:prstGeom>
          <a:solidFill>
            <a:srgbClr val="0D1F3C"/>
          </a:solidFill>
          <a:ln cap="flat" cmpd="sng" w="12700">
            <a:solidFill>
              <a:srgbClr val="0D1F3C"/>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 name="Google Shape;49;p3"/>
          <p:cNvSpPr/>
          <p:nvPr/>
        </p:nvSpPr>
        <p:spPr>
          <a:xfrm>
            <a:off x="2450592" y="1325880"/>
            <a:ext cx="192024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2C39A"/>
              </a:buClr>
              <a:buSzPts val="2600"/>
              <a:buFont typeface="Calibri"/>
              <a:buNone/>
            </a:pPr>
            <a:r>
              <a:rPr b="1" lang="en-US" sz="2600">
                <a:solidFill>
                  <a:srgbClr val="02C39A"/>
                </a:solidFill>
                <a:latin typeface="Calibri"/>
                <a:ea typeface="Calibri"/>
                <a:cs typeface="Calibri"/>
                <a:sym typeface="Calibri"/>
              </a:rPr>
              <a:t>58%</a:t>
            </a:r>
            <a:endParaRPr sz="2600">
              <a:solidFill>
                <a:schemeClr val="dk1"/>
              </a:solidFill>
              <a:latin typeface="Calibri"/>
              <a:ea typeface="Calibri"/>
              <a:cs typeface="Calibri"/>
              <a:sym typeface="Calibri"/>
            </a:endParaRPr>
          </a:p>
        </p:txBody>
      </p:sp>
      <p:sp>
        <p:nvSpPr>
          <p:cNvPr id="50" name="Google Shape;50;p3"/>
          <p:cNvSpPr/>
          <p:nvPr/>
        </p:nvSpPr>
        <p:spPr>
          <a:xfrm>
            <a:off x="2450592" y="1965960"/>
            <a:ext cx="192024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ADCFC"/>
              </a:buClr>
              <a:buSzPts val="1000"/>
              <a:buFont typeface="Calibri"/>
              <a:buNone/>
            </a:pPr>
            <a:r>
              <a:rPr lang="en-US" sz="1000">
                <a:solidFill>
                  <a:srgbClr val="CADCFC"/>
                </a:solidFill>
                <a:latin typeface="Calibri"/>
                <a:ea typeface="Calibri"/>
                <a:cs typeface="Calibri"/>
                <a:sym typeface="Calibri"/>
              </a:rPr>
              <a:t>Mujeres</a:t>
            </a:r>
            <a:endParaRPr sz="1000">
              <a:solidFill>
                <a:schemeClr val="dk1"/>
              </a:solidFill>
              <a:latin typeface="Calibri"/>
              <a:ea typeface="Calibri"/>
              <a:cs typeface="Calibri"/>
              <a:sym typeface="Calibri"/>
            </a:endParaRPr>
          </a:p>
        </p:txBody>
      </p:sp>
      <p:sp>
        <p:nvSpPr>
          <p:cNvPr id="51" name="Google Shape;51;p3"/>
          <p:cNvSpPr/>
          <p:nvPr/>
        </p:nvSpPr>
        <p:spPr>
          <a:xfrm>
            <a:off x="4626864" y="1280160"/>
            <a:ext cx="1920240" cy="1188720"/>
          </a:xfrm>
          <a:prstGeom prst="rect">
            <a:avLst/>
          </a:prstGeom>
          <a:solidFill>
            <a:srgbClr val="0D1F3C"/>
          </a:solidFill>
          <a:ln cap="flat" cmpd="sng" w="12700">
            <a:solidFill>
              <a:srgbClr val="0D1F3C"/>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 name="Google Shape;52;p3"/>
          <p:cNvSpPr/>
          <p:nvPr/>
        </p:nvSpPr>
        <p:spPr>
          <a:xfrm>
            <a:off x="4626864" y="1325880"/>
            <a:ext cx="192024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2C39A"/>
              </a:buClr>
              <a:buSzPts val="2600"/>
              <a:buFont typeface="Calibri"/>
              <a:buNone/>
            </a:pPr>
            <a:r>
              <a:rPr b="1" lang="en-US" sz="2600">
                <a:solidFill>
                  <a:srgbClr val="02C39A"/>
                </a:solidFill>
                <a:latin typeface="Calibri"/>
                <a:ea typeface="Calibri"/>
                <a:cs typeface="Calibri"/>
                <a:sym typeface="Calibri"/>
              </a:rPr>
              <a:t>42%</a:t>
            </a:r>
            <a:endParaRPr sz="2600">
              <a:solidFill>
                <a:schemeClr val="dk1"/>
              </a:solidFill>
              <a:latin typeface="Calibri"/>
              <a:ea typeface="Calibri"/>
              <a:cs typeface="Calibri"/>
              <a:sym typeface="Calibri"/>
            </a:endParaRPr>
          </a:p>
        </p:txBody>
      </p:sp>
      <p:sp>
        <p:nvSpPr>
          <p:cNvPr id="53" name="Google Shape;53;p3"/>
          <p:cNvSpPr/>
          <p:nvPr/>
        </p:nvSpPr>
        <p:spPr>
          <a:xfrm>
            <a:off x="4626864" y="1965960"/>
            <a:ext cx="192024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ADCFC"/>
              </a:buClr>
              <a:buSzPts val="1000"/>
              <a:buFont typeface="Calibri"/>
              <a:buNone/>
            </a:pPr>
            <a:r>
              <a:rPr lang="en-US" sz="1000">
                <a:solidFill>
                  <a:srgbClr val="CADCFC"/>
                </a:solidFill>
                <a:latin typeface="Calibri"/>
                <a:ea typeface="Calibri"/>
                <a:cs typeface="Calibri"/>
                <a:sym typeface="Calibri"/>
              </a:rPr>
              <a:t>Hombres</a:t>
            </a:r>
            <a:endParaRPr sz="1000">
              <a:solidFill>
                <a:schemeClr val="dk1"/>
              </a:solidFill>
              <a:latin typeface="Calibri"/>
              <a:ea typeface="Calibri"/>
              <a:cs typeface="Calibri"/>
              <a:sym typeface="Calibri"/>
            </a:endParaRPr>
          </a:p>
        </p:txBody>
      </p:sp>
      <p:sp>
        <p:nvSpPr>
          <p:cNvPr id="54" name="Google Shape;54;p3"/>
          <p:cNvSpPr/>
          <p:nvPr/>
        </p:nvSpPr>
        <p:spPr>
          <a:xfrm>
            <a:off x="6803136" y="1280160"/>
            <a:ext cx="1920240" cy="1188720"/>
          </a:xfrm>
          <a:prstGeom prst="rect">
            <a:avLst/>
          </a:prstGeom>
          <a:solidFill>
            <a:srgbClr val="0D1F3C"/>
          </a:solidFill>
          <a:ln cap="flat" cmpd="sng" w="12700">
            <a:solidFill>
              <a:srgbClr val="0D1F3C"/>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 name="Google Shape;55;p3"/>
          <p:cNvSpPr/>
          <p:nvPr/>
        </p:nvSpPr>
        <p:spPr>
          <a:xfrm>
            <a:off x="6803136" y="1325880"/>
            <a:ext cx="192024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2C39A"/>
              </a:buClr>
              <a:buSzPts val="2600"/>
              <a:buFont typeface="Calibri"/>
              <a:buNone/>
            </a:pPr>
            <a:r>
              <a:rPr b="1" lang="en-US" sz="2600">
                <a:solidFill>
                  <a:srgbClr val="02C39A"/>
                </a:solidFill>
                <a:latin typeface="Calibri"/>
                <a:ea typeface="Calibri"/>
                <a:cs typeface="Calibri"/>
                <a:sym typeface="Calibri"/>
              </a:rPr>
              <a:t>5.8%</a:t>
            </a:r>
            <a:endParaRPr sz="2600">
              <a:solidFill>
                <a:schemeClr val="dk1"/>
              </a:solidFill>
              <a:latin typeface="Calibri"/>
              <a:ea typeface="Calibri"/>
              <a:cs typeface="Calibri"/>
              <a:sym typeface="Calibri"/>
            </a:endParaRPr>
          </a:p>
        </p:txBody>
      </p:sp>
      <p:sp>
        <p:nvSpPr>
          <p:cNvPr id="56" name="Google Shape;56;p3"/>
          <p:cNvSpPr/>
          <p:nvPr/>
        </p:nvSpPr>
        <p:spPr>
          <a:xfrm>
            <a:off x="6803136" y="1965960"/>
            <a:ext cx="192024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ADCFC"/>
              </a:buClr>
              <a:buSzPts val="1000"/>
              <a:buFont typeface="Calibri"/>
              <a:buNone/>
            </a:pPr>
            <a:r>
              <a:rPr lang="en-US" sz="1000">
                <a:solidFill>
                  <a:srgbClr val="CADCFC"/>
                </a:solidFill>
                <a:latin typeface="Calibri"/>
                <a:ea typeface="Calibri"/>
                <a:cs typeface="Calibri"/>
                <a:sym typeface="Calibri"/>
              </a:rPr>
              <a:t>Tuvieron un ACV</a:t>
            </a:r>
            <a:endParaRPr sz="1000">
              <a:solidFill>
                <a:schemeClr val="dk1"/>
              </a:solidFill>
              <a:latin typeface="Calibri"/>
              <a:ea typeface="Calibri"/>
              <a:cs typeface="Calibri"/>
              <a:sym typeface="Calibri"/>
            </a:endParaRPr>
          </a:p>
        </p:txBody>
      </p:sp>
      <p:sp>
        <p:nvSpPr>
          <p:cNvPr id="57" name="Google Shape;57;p3"/>
          <p:cNvSpPr/>
          <p:nvPr/>
        </p:nvSpPr>
        <p:spPr>
          <a:xfrm>
            <a:off x="274320" y="2651760"/>
            <a:ext cx="85953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1300"/>
              <a:buFont typeface="Calibri"/>
              <a:buNone/>
            </a:pPr>
            <a:r>
              <a:rPr b="1" lang="en-US" sz="1300">
                <a:solidFill>
                  <a:srgbClr val="0D1F3C"/>
                </a:solidFill>
                <a:latin typeface="Calibri"/>
                <a:ea typeface="Calibri"/>
                <a:cs typeface="Calibri"/>
                <a:sym typeface="Calibri"/>
              </a:rPr>
              <a:t>Características</a:t>
            </a:r>
            <a:r>
              <a:rPr b="1" lang="en-US" sz="1300">
                <a:solidFill>
                  <a:srgbClr val="0D1F3C"/>
                </a:solidFill>
                <a:latin typeface="Calibri"/>
                <a:ea typeface="Calibri"/>
                <a:cs typeface="Calibri"/>
                <a:sym typeface="Calibri"/>
              </a:rPr>
              <a:t> registradas por paciente:</a:t>
            </a:r>
            <a:endParaRPr sz="1300">
              <a:solidFill>
                <a:schemeClr val="dk1"/>
              </a:solidFill>
              <a:latin typeface="Calibri"/>
              <a:ea typeface="Calibri"/>
              <a:cs typeface="Calibri"/>
              <a:sym typeface="Calibri"/>
            </a:endParaRPr>
          </a:p>
        </p:txBody>
      </p:sp>
      <p:sp>
        <p:nvSpPr>
          <p:cNvPr id="58" name="Google Shape;58;p3"/>
          <p:cNvSpPr/>
          <p:nvPr/>
        </p:nvSpPr>
        <p:spPr>
          <a:xfrm>
            <a:off x="274320" y="3063240"/>
            <a:ext cx="54864" cy="320040"/>
          </a:xfrm>
          <a:prstGeom prst="rect">
            <a:avLst/>
          </a:prstGeom>
          <a:solidFill>
            <a:srgbClr val="028090"/>
          </a:solidFill>
          <a:ln cap="flat" cmpd="sng" w="12700">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 name="Google Shape;59;p3"/>
          <p:cNvSpPr/>
          <p:nvPr/>
        </p:nvSpPr>
        <p:spPr>
          <a:xfrm>
            <a:off x="411480" y="3063240"/>
            <a:ext cx="41148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1000"/>
              <a:buFont typeface="Calibri"/>
              <a:buNone/>
            </a:pPr>
            <a:r>
              <a:rPr b="1" lang="en-US" sz="1000">
                <a:solidFill>
                  <a:srgbClr val="0D1F3C"/>
                </a:solidFill>
                <a:latin typeface="Calibri"/>
                <a:ea typeface="Calibri"/>
                <a:cs typeface="Calibri"/>
                <a:sym typeface="Calibri"/>
              </a:rPr>
              <a:t>Edad: </a:t>
            </a:r>
            <a:endParaRPr sz="1000">
              <a:solidFill>
                <a:schemeClr val="dk1"/>
              </a:solidFill>
              <a:latin typeface="Calibri"/>
              <a:ea typeface="Calibri"/>
              <a:cs typeface="Calibri"/>
              <a:sym typeface="Calibri"/>
            </a:endParaRPr>
          </a:p>
        </p:txBody>
      </p:sp>
      <p:sp>
        <p:nvSpPr>
          <p:cNvPr id="60" name="Google Shape;60;p3"/>
          <p:cNvSpPr/>
          <p:nvPr/>
        </p:nvSpPr>
        <p:spPr>
          <a:xfrm>
            <a:off x="411480" y="3227832"/>
            <a:ext cx="41148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18 a 82 años. Promedio: 50 años en sanos, 68 en pacientes con ACV.</a:t>
            </a:r>
            <a:endParaRPr sz="900">
              <a:solidFill>
                <a:schemeClr val="dk1"/>
              </a:solidFill>
              <a:latin typeface="Calibri"/>
              <a:ea typeface="Calibri"/>
              <a:cs typeface="Calibri"/>
              <a:sym typeface="Calibri"/>
            </a:endParaRPr>
          </a:p>
        </p:txBody>
      </p:sp>
      <p:sp>
        <p:nvSpPr>
          <p:cNvPr id="61" name="Google Shape;61;p3"/>
          <p:cNvSpPr/>
          <p:nvPr/>
        </p:nvSpPr>
        <p:spPr>
          <a:xfrm>
            <a:off x="274320" y="3456432"/>
            <a:ext cx="54864" cy="320040"/>
          </a:xfrm>
          <a:prstGeom prst="rect">
            <a:avLst/>
          </a:prstGeom>
          <a:solidFill>
            <a:srgbClr val="028090"/>
          </a:solidFill>
          <a:ln cap="flat" cmpd="sng" w="12700">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 name="Google Shape;62;p3"/>
          <p:cNvSpPr/>
          <p:nvPr/>
        </p:nvSpPr>
        <p:spPr>
          <a:xfrm>
            <a:off x="411480" y="3456432"/>
            <a:ext cx="41148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1000"/>
              <a:buFont typeface="Calibri"/>
              <a:buNone/>
            </a:pPr>
            <a:r>
              <a:rPr b="1" lang="en-US" sz="1000">
                <a:solidFill>
                  <a:srgbClr val="0D1F3C"/>
                </a:solidFill>
                <a:latin typeface="Calibri"/>
                <a:ea typeface="Calibri"/>
                <a:cs typeface="Calibri"/>
                <a:sym typeface="Calibri"/>
              </a:rPr>
              <a:t>Genero: </a:t>
            </a:r>
            <a:endParaRPr sz="1000">
              <a:solidFill>
                <a:schemeClr val="dk1"/>
              </a:solidFill>
              <a:latin typeface="Calibri"/>
              <a:ea typeface="Calibri"/>
              <a:cs typeface="Calibri"/>
              <a:sym typeface="Calibri"/>
            </a:endParaRPr>
          </a:p>
        </p:txBody>
      </p:sp>
      <p:sp>
        <p:nvSpPr>
          <p:cNvPr id="63" name="Google Shape;63;p3"/>
          <p:cNvSpPr/>
          <p:nvPr/>
        </p:nvSpPr>
        <p:spPr>
          <a:xfrm>
            <a:off x="411480" y="3621024"/>
            <a:ext cx="41148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Hombre o Mujer.</a:t>
            </a:r>
            <a:endParaRPr sz="900">
              <a:solidFill>
                <a:schemeClr val="dk1"/>
              </a:solidFill>
              <a:latin typeface="Calibri"/>
              <a:ea typeface="Calibri"/>
              <a:cs typeface="Calibri"/>
              <a:sym typeface="Calibri"/>
            </a:endParaRPr>
          </a:p>
        </p:txBody>
      </p:sp>
      <p:sp>
        <p:nvSpPr>
          <p:cNvPr id="64" name="Google Shape;64;p3"/>
          <p:cNvSpPr/>
          <p:nvPr/>
        </p:nvSpPr>
        <p:spPr>
          <a:xfrm>
            <a:off x="274320" y="3849624"/>
            <a:ext cx="54864" cy="320040"/>
          </a:xfrm>
          <a:prstGeom prst="rect">
            <a:avLst/>
          </a:prstGeom>
          <a:solidFill>
            <a:srgbClr val="028090"/>
          </a:solidFill>
          <a:ln cap="flat" cmpd="sng" w="12700">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 name="Google Shape;65;p3"/>
          <p:cNvSpPr/>
          <p:nvPr/>
        </p:nvSpPr>
        <p:spPr>
          <a:xfrm>
            <a:off x="411480" y="3849624"/>
            <a:ext cx="41148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1000"/>
              <a:buFont typeface="Calibri"/>
              <a:buNone/>
            </a:pPr>
            <a:r>
              <a:rPr b="1" lang="en-US" sz="1000">
                <a:solidFill>
                  <a:srgbClr val="0D1F3C"/>
                </a:solidFill>
                <a:latin typeface="Calibri"/>
                <a:ea typeface="Calibri"/>
                <a:cs typeface="Calibri"/>
                <a:sym typeface="Calibri"/>
              </a:rPr>
              <a:t>Glucosa en sangre: </a:t>
            </a:r>
            <a:endParaRPr sz="1000">
              <a:solidFill>
                <a:schemeClr val="dk1"/>
              </a:solidFill>
              <a:latin typeface="Calibri"/>
              <a:ea typeface="Calibri"/>
              <a:cs typeface="Calibri"/>
              <a:sym typeface="Calibri"/>
            </a:endParaRPr>
          </a:p>
        </p:txBody>
      </p:sp>
      <p:sp>
        <p:nvSpPr>
          <p:cNvPr id="66" name="Google Shape;66;p3"/>
          <p:cNvSpPr/>
          <p:nvPr/>
        </p:nvSpPr>
        <p:spPr>
          <a:xfrm>
            <a:off x="411480" y="4014216"/>
            <a:ext cx="41148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Promedio: 107 mg/dL en sanos vs 133 mg/dL en pacientes con ACV.</a:t>
            </a:r>
            <a:endParaRPr sz="900">
              <a:solidFill>
                <a:schemeClr val="dk1"/>
              </a:solidFill>
              <a:latin typeface="Calibri"/>
              <a:ea typeface="Calibri"/>
              <a:cs typeface="Calibri"/>
              <a:sym typeface="Calibri"/>
            </a:endParaRPr>
          </a:p>
        </p:txBody>
      </p:sp>
      <p:sp>
        <p:nvSpPr>
          <p:cNvPr id="67" name="Google Shape;67;p3"/>
          <p:cNvSpPr/>
          <p:nvPr/>
        </p:nvSpPr>
        <p:spPr>
          <a:xfrm>
            <a:off x="274320" y="4242816"/>
            <a:ext cx="54864" cy="320040"/>
          </a:xfrm>
          <a:prstGeom prst="rect">
            <a:avLst/>
          </a:prstGeom>
          <a:solidFill>
            <a:srgbClr val="028090"/>
          </a:solidFill>
          <a:ln cap="flat" cmpd="sng" w="12700">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 name="Google Shape;68;p3"/>
          <p:cNvSpPr/>
          <p:nvPr/>
        </p:nvSpPr>
        <p:spPr>
          <a:xfrm>
            <a:off x="411480" y="4242816"/>
            <a:ext cx="41148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1000"/>
              <a:buFont typeface="Calibri"/>
              <a:buNone/>
            </a:pPr>
            <a:r>
              <a:rPr b="1" lang="en-US" sz="1000">
                <a:solidFill>
                  <a:srgbClr val="0D1F3C"/>
                </a:solidFill>
                <a:latin typeface="Calibri"/>
                <a:ea typeface="Calibri"/>
                <a:cs typeface="Calibri"/>
                <a:sym typeface="Calibri"/>
              </a:rPr>
              <a:t>IMC (indice de masa corporal): </a:t>
            </a:r>
            <a:endParaRPr sz="1000">
              <a:solidFill>
                <a:schemeClr val="dk1"/>
              </a:solidFill>
              <a:latin typeface="Calibri"/>
              <a:ea typeface="Calibri"/>
              <a:cs typeface="Calibri"/>
              <a:sym typeface="Calibri"/>
            </a:endParaRPr>
          </a:p>
        </p:txBody>
      </p:sp>
      <p:sp>
        <p:nvSpPr>
          <p:cNvPr id="69" name="Google Shape;69;p3"/>
          <p:cNvSpPr/>
          <p:nvPr/>
        </p:nvSpPr>
        <p:spPr>
          <a:xfrm>
            <a:off x="411480" y="4407408"/>
            <a:ext cx="41148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Indicador de sobrepeso u obesidad.</a:t>
            </a:r>
            <a:endParaRPr sz="900">
              <a:solidFill>
                <a:schemeClr val="dk1"/>
              </a:solidFill>
              <a:latin typeface="Calibri"/>
              <a:ea typeface="Calibri"/>
              <a:cs typeface="Calibri"/>
              <a:sym typeface="Calibri"/>
            </a:endParaRPr>
          </a:p>
        </p:txBody>
      </p:sp>
      <p:sp>
        <p:nvSpPr>
          <p:cNvPr id="70" name="Google Shape;70;p3"/>
          <p:cNvSpPr/>
          <p:nvPr/>
        </p:nvSpPr>
        <p:spPr>
          <a:xfrm>
            <a:off x="274320" y="4636008"/>
            <a:ext cx="54864" cy="320040"/>
          </a:xfrm>
          <a:prstGeom prst="rect">
            <a:avLst/>
          </a:prstGeom>
          <a:solidFill>
            <a:srgbClr val="028090"/>
          </a:solidFill>
          <a:ln cap="flat" cmpd="sng" w="12700">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 name="Google Shape;71;p3"/>
          <p:cNvSpPr/>
          <p:nvPr/>
        </p:nvSpPr>
        <p:spPr>
          <a:xfrm>
            <a:off x="411480" y="4636008"/>
            <a:ext cx="41148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1000"/>
              <a:buFont typeface="Calibri"/>
              <a:buNone/>
            </a:pPr>
            <a:r>
              <a:rPr b="1" lang="en-US" sz="1000">
                <a:solidFill>
                  <a:srgbClr val="0D1F3C"/>
                </a:solidFill>
                <a:latin typeface="Calibri"/>
                <a:ea typeface="Calibri"/>
                <a:cs typeface="Calibri"/>
                <a:sym typeface="Calibri"/>
              </a:rPr>
              <a:t>Historial de fumar: </a:t>
            </a:r>
            <a:endParaRPr sz="1000">
              <a:solidFill>
                <a:schemeClr val="dk1"/>
              </a:solidFill>
              <a:latin typeface="Calibri"/>
              <a:ea typeface="Calibri"/>
              <a:cs typeface="Calibri"/>
              <a:sym typeface="Calibri"/>
            </a:endParaRPr>
          </a:p>
        </p:txBody>
      </p:sp>
      <p:sp>
        <p:nvSpPr>
          <p:cNvPr id="72" name="Google Shape;72;p3"/>
          <p:cNvSpPr/>
          <p:nvPr/>
        </p:nvSpPr>
        <p:spPr>
          <a:xfrm>
            <a:off x="411480" y="4800600"/>
            <a:ext cx="41148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Nunca fumo, ex-fumador, fumador activo.</a:t>
            </a:r>
            <a:endParaRPr sz="900">
              <a:solidFill>
                <a:schemeClr val="dk1"/>
              </a:solidFill>
              <a:latin typeface="Calibri"/>
              <a:ea typeface="Calibri"/>
              <a:cs typeface="Calibri"/>
              <a:sym typeface="Calibri"/>
            </a:endParaRPr>
          </a:p>
        </p:txBody>
      </p:sp>
      <p:sp>
        <p:nvSpPr>
          <p:cNvPr id="73" name="Google Shape;73;p3"/>
          <p:cNvSpPr/>
          <p:nvPr/>
        </p:nvSpPr>
        <p:spPr>
          <a:xfrm>
            <a:off x="4709160" y="3063240"/>
            <a:ext cx="54864" cy="320040"/>
          </a:xfrm>
          <a:prstGeom prst="rect">
            <a:avLst/>
          </a:prstGeom>
          <a:solidFill>
            <a:srgbClr val="028090"/>
          </a:solidFill>
          <a:ln cap="flat" cmpd="sng" w="12700">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 name="Google Shape;74;p3"/>
          <p:cNvSpPr/>
          <p:nvPr/>
        </p:nvSpPr>
        <p:spPr>
          <a:xfrm>
            <a:off x="4846320" y="3063240"/>
            <a:ext cx="41148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1000"/>
              <a:buFont typeface="Calibri"/>
              <a:buNone/>
            </a:pPr>
            <a:r>
              <a:rPr b="1" lang="en-US" sz="1000">
                <a:solidFill>
                  <a:srgbClr val="0D1F3C"/>
                </a:solidFill>
                <a:latin typeface="Calibri"/>
                <a:ea typeface="Calibri"/>
                <a:cs typeface="Calibri"/>
                <a:sym typeface="Calibri"/>
              </a:rPr>
              <a:t>Hipertension: </a:t>
            </a:r>
            <a:endParaRPr sz="1000">
              <a:solidFill>
                <a:schemeClr val="dk1"/>
              </a:solidFill>
              <a:latin typeface="Calibri"/>
              <a:ea typeface="Calibri"/>
              <a:cs typeface="Calibri"/>
              <a:sym typeface="Calibri"/>
            </a:endParaRPr>
          </a:p>
        </p:txBody>
      </p:sp>
      <p:sp>
        <p:nvSpPr>
          <p:cNvPr id="75" name="Google Shape;75;p3"/>
          <p:cNvSpPr/>
          <p:nvPr/>
        </p:nvSpPr>
        <p:spPr>
          <a:xfrm>
            <a:off x="4846320" y="3227832"/>
            <a:ext cx="41148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13% de los hipertensos tuvo ACV vs 5% de los que no la tienen.</a:t>
            </a:r>
            <a:endParaRPr sz="900">
              <a:solidFill>
                <a:schemeClr val="dk1"/>
              </a:solidFill>
              <a:latin typeface="Calibri"/>
              <a:ea typeface="Calibri"/>
              <a:cs typeface="Calibri"/>
              <a:sym typeface="Calibri"/>
            </a:endParaRPr>
          </a:p>
        </p:txBody>
      </p:sp>
      <p:sp>
        <p:nvSpPr>
          <p:cNvPr id="76" name="Google Shape;76;p3"/>
          <p:cNvSpPr/>
          <p:nvPr/>
        </p:nvSpPr>
        <p:spPr>
          <a:xfrm>
            <a:off x="4709160" y="3456432"/>
            <a:ext cx="54864" cy="320040"/>
          </a:xfrm>
          <a:prstGeom prst="rect">
            <a:avLst/>
          </a:prstGeom>
          <a:solidFill>
            <a:srgbClr val="028090"/>
          </a:solidFill>
          <a:ln cap="flat" cmpd="sng" w="12700">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 name="Google Shape;77;p3"/>
          <p:cNvSpPr/>
          <p:nvPr/>
        </p:nvSpPr>
        <p:spPr>
          <a:xfrm>
            <a:off x="4846320" y="3456432"/>
            <a:ext cx="41148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1000"/>
              <a:buFont typeface="Calibri"/>
              <a:buNone/>
            </a:pPr>
            <a:r>
              <a:rPr b="1" lang="en-US" sz="1000">
                <a:solidFill>
                  <a:srgbClr val="0D1F3C"/>
                </a:solidFill>
                <a:latin typeface="Calibri"/>
                <a:ea typeface="Calibri"/>
                <a:cs typeface="Calibri"/>
                <a:sym typeface="Calibri"/>
              </a:rPr>
              <a:t>Enfermedad cardiaca: </a:t>
            </a:r>
            <a:endParaRPr sz="1000">
              <a:solidFill>
                <a:schemeClr val="dk1"/>
              </a:solidFill>
              <a:latin typeface="Calibri"/>
              <a:ea typeface="Calibri"/>
              <a:cs typeface="Calibri"/>
              <a:sym typeface="Calibri"/>
            </a:endParaRPr>
          </a:p>
        </p:txBody>
      </p:sp>
      <p:sp>
        <p:nvSpPr>
          <p:cNvPr id="78" name="Google Shape;78;p3"/>
          <p:cNvSpPr/>
          <p:nvPr/>
        </p:nvSpPr>
        <p:spPr>
          <a:xfrm>
            <a:off x="4846320" y="3621024"/>
            <a:ext cx="41148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17% de los pacientes con enf. cardiaca tuvo ACV vs 5%.</a:t>
            </a:r>
            <a:endParaRPr sz="900">
              <a:solidFill>
                <a:schemeClr val="dk1"/>
              </a:solidFill>
              <a:latin typeface="Calibri"/>
              <a:ea typeface="Calibri"/>
              <a:cs typeface="Calibri"/>
              <a:sym typeface="Calibri"/>
            </a:endParaRPr>
          </a:p>
        </p:txBody>
      </p:sp>
      <p:sp>
        <p:nvSpPr>
          <p:cNvPr id="79" name="Google Shape;79;p3"/>
          <p:cNvSpPr/>
          <p:nvPr/>
        </p:nvSpPr>
        <p:spPr>
          <a:xfrm>
            <a:off x="4709160" y="3849624"/>
            <a:ext cx="54864" cy="320040"/>
          </a:xfrm>
          <a:prstGeom prst="rect">
            <a:avLst/>
          </a:prstGeom>
          <a:solidFill>
            <a:srgbClr val="028090"/>
          </a:solidFill>
          <a:ln cap="flat" cmpd="sng" w="12700">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 name="Google Shape;80;p3"/>
          <p:cNvSpPr/>
          <p:nvPr/>
        </p:nvSpPr>
        <p:spPr>
          <a:xfrm>
            <a:off x="4846320" y="3849624"/>
            <a:ext cx="41148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1000"/>
              <a:buFont typeface="Calibri"/>
              <a:buNone/>
            </a:pPr>
            <a:r>
              <a:rPr b="1" lang="en-US" sz="1000">
                <a:solidFill>
                  <a:srgbClr val="0D1F3C"/>
                </a:solidFill>
                <a:latin typeface="Calibri"/>
                <a:ea typeface="Calibri"/>
                <a:cs typeface="Calibri"/>
                <a:sym typeface="Calibri"/>
              </a:rPr>
              <a:t>Estado civil: </a:t>
            </a:r>
            <a:endParaRPr sz="1000">
              <a:solidFill>
                <a:schemeClr val="dk1"/>
              </a:solidFill>
              <a:latin typeface="Calibri"/>
              <a:ea typeface="Calibri"/>
              <a:cs typeface="Calibri"/>
              <a:sym typeface="Calibri"/>
            </a:endParaRPr>
          </a:p>
        </p:txBody>
      </p:sp>
      <p:sp>
        <p:nvSpPr>
          <p:cNvPr id="81" name="Google Shape;81;p3"/>
          <p:cNvSpPr/>
          <p:nvPr/>
        </p:nvSpPr>
        <p:spPr>
          <a:xfrm>
            <a:off x="4846320" y="4014216"/>
            <a:ext cx="41148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Casado o soltero.</a:t>
            </a:r>
            <a:endParaRPr sz="900">
              <a:solidFill>
                <a:schemeClr val="dk1"/>
              </a:solidFill>
              <a:latin typeface="Calibri"/>
              <a:ea typeface="Calibri"/>
              <a:cs typeface="Calibri"/>
              <a:sym typeface="Calibri"/>
            </a:endParaRPr>
          </a:p>
        </p:txBody>
      </p:sp>
      <p:sp>
        <p:nvSpPr>
          <p:cNvPr id="82" name="Google Shape;82;p3"/>
          <p:cNvSpPr/>
          <p:nvPr/>
        </p:nvSpPr>
        <p:spPr>
          <a:xfrm>
            <a:off x="4709160" y="4242816"/>
            <a:ext cx="54864" cy="320040"/>
          </a:xfrm>
          <a:prstGeom prst="rect">
            <a:avLst/>
          </a:prstGeom>
          <a:solidFill>
            <a:srgbClr val="028090"/>
          </a:solidFill>
          <a:ln cap="flat" cmpd="sng" w="12700">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 name="Google Shape;83;p3"/>
          <p:cNvSpPr/>
          <p:nvPr/>
        </p:nvSpPr>
        <p:spPr>
          <a:xfrm>
            <a:off x="4846320" y="4242816"/>
            <a:ext cx="41148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1000"/>
              <a:buFont typeface="Calibri"/>
              <a:buNone/>
            </a:pPr>
            <a:r>
              <a:rPr b="1" lang="en-US" sz="1000">
                <a:solidFill>
                  <a:srgbClr val="0D1F3C"/>
                </a:solidFill>
                <a:latin typeface="Calibri"/>
                <a:ea typeface="Calibri"/>
                <a:cs typeface="Calibri"/>
                <a:sym typeface="Calibri"/>
              </a:rPr>
              <a:t>Tipo de trabajo: </a:t>
            </a:r>
            <a:endParaRPr sz="1000">
              <a:solidFill>
                <a:schemeClr val="dk1"/>
              </a:solidFill>
              <a:latin typeface="Calibri"/>
              <a:ea typeface="Calibri"/>
              <a:cs typeface="Calibri"/>
              <a:sym typeface="Calibri"/>
            </a:endParaRPr>
          </a:p>
        </p:txBody>
      </p:sp>
      <p:sp>
        <p:nvSpPr>
          <p:cNvPr id="84" name="Google Shape;84;p3"/>
          <p:cNvSpPr/>
          <p:nvPr/>
        </p:nvSpPr>
        <p:spPr>
          <a:xfrm>
            <a:off x="4846320" y="4407408"/>
            <a:ext cx="41148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Privado, gobierno, independiente.</a:t>
            </a:r>
            <a:endParaRPr sz="900">
              <a:solidFill>
                <a:schemeClr val="dk1"/>
              </a:solidFill>
              <a:latin typeface="Calibri"/>
              <a:ea typeface="Calibri"/>
              <a:cs typeface="Calibri"/>
              <a:sym typeface="Calibri"/>
            </a:endParaRPr>
          </a:p>
        </p:txBody>
      </p:sp>
      <p:sp>
        <p:nvSpPr>
          <p:cNvPr id="85" name="Google Shape;85;p3"/>
          <p:cNvSpPr/>
          <p:nvPr/>
        </p:nvSpPr>
        <p:spPr>
          <a:xfrm>
            <a:off x="4709160" y="4636008"/>
            <a:ext cx="54864" cy="320040"/>
          </a:xfrm>
          <a:prstGeom prst="rect">
            <a:avLst/>
          </a:prstGeom>
          <a:solidFill>
            <a:srgbClr val="028090"/>
          </a:solidFill>
          <a:ln cap="flat" cmpd="sng" w="12700">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 name="Google Shape;86;p3"/>
          <p:cNvSpPr/>
          <p:nvPr/>
        </p:nvSpPr>
        <p:spPr>
          <a:xfrm>
            <a:off x="4846320" y="4636008"/>
            <a:ext cx="41148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1000"/>
              <a:buFont typeface="Calibri"/>
              <a:buNone/>
            </a:pPr>
            <a:r>
              <a:rPr b="1" lang="en-US" sz="1000">
                <a:solidFill>
                  <a:srgbClr val="0D1F3C"/>
                </a:solidFill>
                <a:latin typeface="Calibri"/>
                <a:ea typeface="Calibri"/>
                <a:cs typeface="Calibri"/>
                <a:sym typeface="Calibri"/>
              </a:rPr>
              <a:t>Zona de residencia: </a:t>
            </a:r>
            <a:endParaRPr sz="1000">
              <a:solidFill>
                <a:schemeClr val="dk1"/>
              </a:solidFill>
              <a:latin typeface="Calibri"/>
              <a:ea typeface="Calibri"/>
              <a:cs typeface="Calibri"/>
              <a:sym typeface="Calibri"/>
            </a:endParaRPr>
          </a:p>
        </p:txBody>
      </p:sp>
      <p:sp>
        <p:nvSpPr>
          <p:cNvPr id="87" name="Google Shape;87;p3"/>
          <p:cNvSpPr/>
          <p:nvPr/>
        </p:nvSpPr>
        <p:spPr>
          <a:xfrm>
            <a:off x="4846320" y="4800600"/>
            <a:ext cx="411480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Urbana o Rural.</a:t>
            </a:r>
            <a:endParaRPr sz="9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92" name="Shape 92"/>
        <p:cNvGrpSpPr/>
        <p:nvPr/>
      </p:nvGrpSpPr>
      <p:grpSpPr>
        <a:xfrm>
          <a:off x="0" y="0"/>
          <a:ext cx="0" cy="0"/>
          <a:chOff x="0" y="0"/>
          <a:chExt cx="0" cy="0"/>
        </a:xfrm>
      </p:grpSpPr>
      <p:sp>
        <p:nvSpPr>
          <p:cNvPr id="93" name="Google Shape;93;p4"/>
          <p:cNvSpPr/>
          <p:nvPr/>
        </p:nvSpPr>
        <p:spPr>
          <a:xfrm>
            <a:off x="0" y="0"/>
            <a:ext cx="9144000" cy="822960"/>
          </a:xfrm>
          <a:prstGeom prst="rect">
            <a:avLst/>
          </a:prstGeom>
          <a:solidFill>
            <a:srgbClr val="0D1F3C"/>
          </a:solidFill>
          <a:ln cap="flat" cmpd="sng" w="12700">
            <a:solidFill>
              <a:srgbClr val="0D1F3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 name="Google Shape;94;p4"/>
          <p:cNvSpPr/>
          <p:nvPr/>
        </p:nvSpPr>
        <p:spPr>
          <a:xfrm>
            <a:off x="365760" y="0"/>
            <a:ext cx="82296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¿QUE NOS DICEN LOS DATOS?</a:t>
            </a:r>
            <a:endParaRPr sz="2200">
              <a:solidFill>
                <a:schemeClr val="dk1"/>
              </a:solidFill>
              <a:latin typeface="Calibri"/>
              <a:ea typeface="Calibri"/>
              <a:cs typeface="Calibri"/>
              <a:sym typeface="Calibri"/>
            </a:endParaRPr>
          </a:p>
        </p:txBody>
      </p:sp>
      <p:sp>
        <p:nvSpPr>
          <p:cNvPr id="95" name="Google Shape;95;p4"/>
          <p:cNvSpPr/>
          <p:nvPr/>
        </p:nvSpPr>
        <p:spPr>
          <a:xfrm>
            <a:off x="228600" y="885204"/>
            <a:ext cx="4206300" cy="9144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 name="Google Shape;96;p4"/>
          <p:cNvSpPr/>
          <p:nvPr/>
        </p:nvSpPr>
        <p:spPr>
          <a:xfrm>
            <a:off x="228600" y="885204"/>
            <a:ext cx="63900" cy="914400"/>
          </a:xfrm>
          <a:prstGeom prst="rect">
            <a:avLst/>
          </a:prstGeom>
          <a:solidFill>
            <a:srgbClr val="028090"/>
          </a:solidFill>
          <a:ln cap="flat" cmpd="sng" w="12700">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 name="Google Shape;97;p4"/>
          <p:cNvSpPr/>
          <p:nvPr/>
        </p:nvSpPr>
        <p:spPr>
          <a:xfrm>
            <a:off x="384048" y="972175"/>
            <a:ext cx="39318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1100"/>
              <a:buFont typeface="Calibri"/>
              <a:buNone/>
            </a:pPr>
            <a:r>
              <a:rPr b="1" lang="en-US" sz="1100">
                <a:solidFill>
                  <a:srgbClr val="0D1F3C"/>
                </a:solidFill>
                <a:latin typeface="Calibri"/>
                <a:ea typeface="Calibri"/>
                <a:cs typeface="Calibri"/>
                <a:sym typeface="Calibri"/>
              </a:rPr>
              <a:t>Edad</a:t>
            </a:r>
            <a:endParaRPr sz="1100">
              <a:solidFill>
                <a:schemeClr val="dk1"/>
              </a:solidFill>
              <a:latin typeface="Calibri"/>
              <a:ea typeface="Calibri"/>
              <a:cs typeface="Calibri"/>
              <a:sym typeface="Calibri"/>
            </a:endParaRPr>
          </a:p>
        </p:txBody>
      </p:sp>
      <p:sp>
        <p:nvSpPr>
          <p:cNvPr id="98" name="Google Shape;98;p4"/>
          <p:cNvSpPr/>
          <p:nvPr/>
        </p:nvSpPr>
        <p:spPr>
          <a:xfrm>
            <a:off x="384048" y="1196100"/>
            <a:ext cx="39318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lang="en-US" sz="950">
                <a:solidFill>
                  <a:srgbClr val="334155"/>
                </a:solidFill>
                <a:latin typeface="Calibri"/>
                <a:ea typeface="Calibri"/>
                <a:cs typeface="Calibri"/>
                <a:sym typeface="Calibri"/>
              </a:rPr>
              <a:t>Los pacientes con ACV tienen en promedio 68 años vs 49 años los sanos. A mayor edad, mayor riesgo. </a:t>
            </a:r>
            <a:r>
              <a:rPr b="1" lang="en-US" sz="950">
                <a:solidFill>
                  <a:srgbClr val="334155"/>
                </a:solidFill>
                <a:latin typeface="Calibri"/>
                <a:ea typeface="Calibri"/>
                <a:cs typeface="Calibri"/>
                <a:sym typeface="Calibri"/>
              </a:rPr>
              <a:t>Mayores de 75 tienen </a:t>
            </a:r>
            <a:r>
              <a:rPr b="1" lang="en-US" sz="950">
                <a:solidFill>
                  <a:srgbClr val="334155"/>
                </a:solidFill>
                <a:latin typeface="Calibri"/>
                <a:ea typeface="Calibri"/>
                <a:cs typeface="Calibri"/>
                <a:sym typeface="Calibri"/>
              </a:rPr>
              <a:t>más</a:t>
            </a:r>
            <a:r>
              <a:rPr b="1" lang="en-US" sz="950">
                <a:solidFill>
                  <a:srgbClr val="334155"/>
                </a:solidFill>
                <a:latin typeface="Calibri"/>
                <a:ea typeface="Calibri"/>
                <a:cs typeface="Calibri"/>
                <a:sym typeface="Calibri"/>
              </a:rPr>
              <a:t> del 15% de probabilidad.</a:t>
            </a:r>
            <a:endParaRPr b="1" sz="950">
              <a:solidFill>
                <a:schemeClr val="dk1"/>
              </a:solidFill>
              <a:latin typeface="Calibri"/>
              <a:ea typeface="Calibri"/>
              <a:cs typeface="Calibri"/>
              <a:sym typeface="Calibri"/>
            </a:endParaRPr>
          </a:p>
        </p:txBody>
      </p:sp>
      <p:sp>
        <p:nvSpPr>
          <p:cNvPr id="99" name="Google Shape;99;p4"/>
          <p:cNvSpPr/>
          <p:nvPr/>
        </p:nvSpPr>
        <p:spPr>
          <a:xfrm>
            <a:off x="4709160" y="885204"/>
            <a:ext cx="4206300" cy="9144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 name="Google Shape;100;p4"/>
          <p:cNvSpPr/>
          <p:nvPr/>
        </p:nvSpPr>
        <p:spPr>
          <a:xfrm>
            <a:off x="4709160" y="885204"/>
            <a:ext cx="63900" cy="914400"/>
          </a:xfrm>
          <a:prstGeom prst="rect">
            <a:avLst/>
          </a:prstGeom>
          <a:solidFill>
            <a:srgbClr val="02C39A"/>
          </a:solidFill>
          <a:ln cap="flat" cmpd="sng" w="12700">
            <a:solidFill>
              <a:srgbClr val="02C39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 name="Google Shape;101;p4"/>
          <p:cNvSpPr/>
          <p:nvPr/>
        </p:nvSpPr>
        <p:spPr>
          <a:xfrm>
            <a:off x="4864608" y="1014984"/>
            <a:ext cx="393192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1100"/>
              <a:buFont typeface="Calibri"/>
              <a:buNone/>
            </a:pPr>
            <a:r>
              <a:rPr b="1" lang="en-US" sz="1100">
                <a:solidFill>
                  <a:srgbClr val="0D1F3C"/>
                </a:solidFill>
                <a:latin typeface="Calibri"/>
                <a:ea typeface="Calibri"/>
                <a:cs typeface="Calibri"/>
                <a:sym typeface="Calibri"/>
              </a:rPr>
              <a:t>Glucosa en sangre</a:t>
            </a:r>
            <a:endParaRPr sz="1100">
              <a:solidFill>
                <a:schemeClr val="dk1"/>
              </a:solidFill>
              <a:latin typeface="Calibri"/>
              <a:ea typeface="Calibri"/>
              <a:cs typeface="Calibri"/>
              <a:sym typeface="Calibri"/>
            </a:endParaRPr>
          </a:p>
        </p:txBody>
      </p:sp>
      <p:sp>
        <p:nvSpPr>
          <p:cNvPr id="102" name="Google Shape;102;p4"/>
          <p:cNvSpPr/>
          <p:nvPr/>
        </p:nvSpPr>
        <p:spPr>
          <a:xfrm>
            <a:off x="4864608" y="1196100"/>
            <a:ext cx="39318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1" lang="en-US" sz="950">
                <a:solidFill>
                  <a:srgbClr val="334155"/>
                </a:solidFill>
                <a:latin typeface="Calibri"/>
                <a:ea typeface="Calibri"/>
                <a:cs typeface="Calibri"/>
                <a:sym typeface="Calibri"/>
              </a:rPr>
              <a:t>133 mg/dL promedio en pacientes con ACV </a:t>
            </a:r>
            <a:r>
              <a:rPr lang="en-US" sz="950">
                <a:solidFill>
                  <a:srgbClr val="334155"/>
                </a:solidFill>
                <a:latin typeface="Calibri"/>
                <a:ea typeface="Calibri"/>
                <a:cs typeface="Calibri"/>
                <a:sym typeface="Calibri"/>
              </a:rPr>
              <a:t>vs 107 en sanos. Niveles elevados son una señal de alarma importante.</a:t>
            </a:r>
            <a:endParaRPr sz="950">
              <a:solidFill>
                <a:schemeClr val="dk1"/>
              </a:solidFill>
              <a:latin typeface="Calibri"/>
              <a:ea typeface="Calibri"/>
              <a:cs typeface="Calibri"/>
              <a:sym typeface="Calibri"/>
            </a:endParaRPr>
          </a:p>
        </p:txBody>
      </p:sp>
      <p:sp>
        <p:nvSpPr>
          <p:cNvPr id="103" name="Google Shape;103;p4"/>
          <p:cNvSpPr/>
          <p:nvPr/>
        </p:nvSpPr>
        <p:spPr>
          <a:xfrm>
            <a:off x="228600" y="1918476"/>
            <a:ext cx="4206300" cy="9144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 name="Google Shape;104;p4"/>
          <p:cNvSpPr/>
          <p:nvPr/>
        </p:nvSpPr>
        <p:spPr>
          <a:xfrm>
            <a:off x="228600" y="1918476"/>
            <a:ext cx="63900" cy="914400"/>
          </a:xfrm>
          <a:prstGeom prst="rect">
            <a:avLst/>
          </a:prstGeom>
          <a:solidFill>
            <a:srgbClr val="0284C7"/>
          </a:solidFill>
          <a:ln cap="flat" cmpd="sng" w="12700">
            <a:solidFill>
              <a:srgbClr val="0284C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 name="Google Shape;105;p4"/>
          <p:cNvSpPr/>
          <p:nvPr/>
        </p:nvSpPr>
        <p:spPr>
          <a:xfrm>
            <a:off x="384048" y="1973340"/>
            <a:ext cx="39318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1100"/>
              <a:buFont typeface="Calibri"/>
              <a:buNone/>
            </a:pPr>
            <a:r>
              <a:rPr b="1" lang="en-US" sz="1100">
                <a:solidFill>
                  <a:srgbClr val="0D1F3C"/>
                </a:solidFill>
                <a:latin typeface="Calibri"/>
                <a:ea typeface="Calibri"/>
                <a:cs typeface="Calibri"/>
                <a:sym typeface="Calibri"/>
              </a:rPr>
              <a:t>Hipertension</a:t>
            </a:r>
            <a:endParaRPr sz="1100">
              <a:solidFill>
                <a:schemeClr val="dk1"/>
              </a:solidFill>
              <a:latin typeface="Calibri"/>
              <a:ea typeface="Calibri"/>
              <a:cs typeface="Calibri"/>
              <a:sym typeface="Calibri"/>
            </a:endParaRPr>
          </a:p>
        </p:txBody>
      </p:sp>
      <p:sp>
        <p:nvSpPr>
          <p:cNvPr id="106" name="Google Shape;106;p4"/>
          <p:cNvSpPr/>
          <p:nvPr/>
        </p:nvSpPr>
        <p:spPr>
          <a:xfrm>
            <a:off x="384048" y="2229372"/>
            <a:ext cx="39318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1" lang="en-US" sz="950">
                <a:solidFill>
                  <a:srgbClr val="334155"/>
                </a:solidFill>
                <a:latin typeface="Calibri"/>
                <a:ea typeface="Calibri"/>
                <a:cs typeface="Calibri"/>
                <a:sym typeface="Calibri"/>
              </a:rPr>
              <a:t>El 13% de los pacientes con </a:t>
            </a:r>
            <a:r>
              <a:rPr b="1" lang="en-US" sz="950">
                <a:solidFill>
                  <a:srgbClr val="334155"/>
                </a:solidFill>
                <a:latin typeface="Calibri"/>
                <a:ea typeface="Calibri"/>
                <a:cs typeface="Calibri"/>
                <a:sym typeface="Calibri"/>
              </a:rPr>
              <a:t>hipertensión</a:t>
            </a:r>
            <a:r>
              <a:rPr b="1" lang="en-US" sz="950">
                <a:solidFill>
                  <a:srgbClr val="334155"/>
                </a:solidFill>
                <a:latin typeface="Calibri"/>
                <a:ea typeface="Calibri"/>
                <a:cs typeface="Calibri"/>
                <a:sym typeface="Calibri"/>
              </a:rPr>
              <a:t> tuvo un ACV</a:t>
            </a:r>
            <a:r>
              <a:rPr lang="en-US" sz="950">
                <a:solidFill>
                  <a:srgbClr val="334155"/>
                </a:solidFill>
                <a:latin typeface="Calibri"/>
                <a:ea typeface="Calibri"/>
                <a:cs typeface="Calibri"/>
                <a:sym typeface="Calibri"/>
              </a:rPr>
              <a:t>, frente al 5% de los que no la padecen. Riesgo 2.5 veces mayor.</a:t>
            </a:r>
            <a:endParaRPr sz="950">
              <a:solidFill>
                <a:schemeClr val="dk1"/>
              </a:solidFill>
              <a:latin typeface="Calibri"/>
              <a:ea typeface="Calibri"/>
              <a:cs typeface="Calibri"/>
              <a:sym typeface="Calibri"/>
            </a:endParaRPr>
          </a:p>
        </p:txBody>
      </p:sp>
      <p:sp>
        <p:nvSpPr>
          <p:cNvPr id="107" name="Google Shape;107;p4"/>
          <p:cNvSpPr/>
          <p:nvPr/>
        </p:nvSpPr>
        <p:spPr>
          <a:xfrm>
            <a:off x="4709160" y="1918476"/>
            <a:ext cx="4206300" cy="9144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 name="Google Shape;108;p4"/>
          <p:cNvSpPr/>
          <p:nvPr/>
        </p:nvSpPr>
        <p:spPr>
          <a:xfrm>
            <a:off x="4709160" y="1918476"/>
            <a:ext cx="63900" cy="914400"/>
          </a:xfrm>
          <a:prstGeom prst="rect">
            <a:avLst/>
          </a:prstGeom>
          <a:solidFill>
            <a:srgbClr val="7C3AED"/>
          </a:solidFill>
          <a:ln cap="flat" cmpd="sng" w="12700">
            <a:solidFill>
              <a:srgbClr val="7C3A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 name="Google Shape;109;p4"/>
          <p:cNvSpPr/>
          <p:nvPr/>
        </p:nvSpPr>
        <p:spPr>
          <a:xfrm>
            <a:off x="4864608" y="1973340"/>
            <a:ext cx="39318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1100"/>
              <a:buFont typeface="Calibri"/>
              <a:buNone/>
            </a:pPr>
            <a:r>
              <a:rPr b="1" lang="en-US" sz="1100">
                <a:solidFill>
                  <a:srgbClr val="0D1F3C"/>
                </a:solidFill>
                <a:latin typeface="Calibri"/>
                <a:ea typeface="Calibri"/>
                <a:cs typeface="Calibri"/>
                <a:sym typeface="Calibri"/>
              </a:rPr>
              <a:t>Enfermedad cardiaca</a:t>
            </a:r>
            <a:endParaRPr sz="1100">
              <a:solidFill>
                <a:schemeClr val="dk1"/>
              </a:solidFill>
              <a:latin typeface="Calibri"/>
              <a:ea typeface="Calibri"/>
              <a:cs typeface="Calibri"/>
              <a:sym typeface="Calibri"/>
            </a:endParaRPr>
          </a:p>
        </p:txBody>
      </p:sp>
      <p:sp>
        <p:nvSpPr>
          <p:cNvPr id="110" name="Google Shape;110;p4"/>
          <p:cNvSpPr/>
          <p:nvPr/>
        </p:nvSpPr>
        <p:spPr>
          <a:xfrm>
            <a:off x="4864608" y="2229372"/>
            <a:ext cx="39318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1" lang="en-US" sz="950">
                <a:solidFill>
                  <a:srgbClr val="334155"/>
                </a:solidFill>
                <a:latin typeface="Calibri"/>
                <a:ea typeface="Calibri"/>
                <a:cs typeface="Calibri"/>
                <a:sym typeface="Calibri"/>
              </a:rPr>
              <a:t>El 17% de los pacientes con enfermedad cardiaca tuvo ACV</a:t>
            </a:r>
            <a:r>
              <a:rPr lang="en-US" sz="950">
                <a:solidFill>
                  <a:srgbClr val="334155"/>
                </a:solidFill>
                <a:latin typeface="Calibri"/>
                <a:ea typeface="Calibri"/>
                <a:cs typeface="Calibri"/>
                <a:sym typeface="Calibri"/>
              </a:rPr>
              <a:t> vs 5%. El riesgo es 3.4 veces mayor.</a:t>
            </a:r>
            <a:endParaRPr sz="950">
              <a:solidFill>
                <a:schemeClr val="dk1"/>
              </a:solidFill>
              <a:latin typeface="Calibri"/>
              <a:ea typeface="Calibri"/>
              <a:cs typeface="Calibri"/>
              <a:sym typeface="Calibri"/>
            </a:endParaRPr>
          </a:p>
        </p:txBody>
      </p:sp>
      <p:sp>
        <p:nvSpPr>
          <p:cNvPr id="111" name="Google Shape;111;p4"/>
          <p:cNvSpPr/>
          <p:nvPr/>
        </p:nvSpPr>
        <p:spPr>
          <a:xfrm>
            <a:off x="228600" y="2951748"/>
            <a:ext cx="4206300" cy="9144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 name="Google Shape;112;p4"/>
          <p:cNvSpPr/>
          <p:nvPr/>
        </p:nvSpPr>
        <p:spPr>
          <a:xfrm>
            <a:off x="228600" y="2951748"/>
            <a:ext cx="63900" cy="914400"/>
          </a:xfrm>
          <a:prstGeom prst="rect">
            <a:avLst/>
          </a:prstGeom>
          <a:solidFill>
            <a:srgbClr val="D4860A"/>
          </a:solidFill>
          <a:ln cap="flat" cmpd="sng" w="12700">
            <a:solidFill>
              <a:srgbClr val="D4860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3" name="Google Shape;113;p4"/>
          <p:cNvSpPr/>
          <p:nvPr/>
        </p:nvSpPr>
        <p:spPr>
          <a:xfrm>
            <a:off x="384048" y="3006612"/>
            <a:ext cx="39318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1100"/>
              <a:buFont typeface="Calibri"/>
              <a:buNone/>
            </a:pPr>
            <a:r>
              <a:rPr b="1" lang="en-US" sz="1100">
                <a:solidFill>
                  <a:srgbClr val="0D1F3C"/>
                </a:solidFill>
                <a:latin typeface="Calibri"/>
                <a:ea typeface="Calibri"/>
                <a:cs typeface="Calibri"/>
                <a:sym typeface="Calibri"/>
              </a:rPr>
              <a:t>IMC faltante</a:t>
            </a:r>
            <a:endParaRPr sz="1100">
              <a:solidFill>
                <a:schemeClr val="dk1"/>
              </a:solidFill>
              <a:latin typeface="Calibri"/>
              <a:ea typeface="Calibri"/>
              <a:cs typeface="Calibri"/>
              <a:sym typeface="Calibri"/>
            </a:endParaRPr>
          </a:p>
        </p:txBody>
      </p:sp>
      <p:sp>
        <p:nvSpPr>
          <p:cNvPr id="114" name="Google Shape;114;p4"/>
          <p:cNvSpPr/>
          <p:nvPr/>
        </p:nvSpPr>
        <p:spPr>
          <a:xfrm>
            <a:off x="384048" y="3262644"/>
            <a:ext cx="39318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1" lang="en-US" sz="950">
                <a:solidFill>
                  <a:srgbClr val="334155"/>
                </a:solidFill>
                <a:latin typeface="Calibri"/>
                <a:ea typeface="Calibri"/>
                <a:cs typeface="Calibri"/>
                <a:sym typeface="Calibri"/>
              </a:rPr>
              <a:t>Pacientes sin IMC registrado tienen 21% de tasa de ACV</a:t>
            </a:r>
            <a:r>
              <a:rPr lang="en-US" sz="950">
                <a:solidFill>
                  <a:srgbClr val="334155"/>
                </a:solidFill>
                <a:latin typeface="Calibri"/>
                <a:ea typeface="Calibri"/>
                <a:cs typeface="Calibri"/>
                <a:sym typeface="Calibri"/>
              </a:rPr>
              <a:t> vs 5%. La ausencia del dato es en </a:t>
            </a:r>
            <a:r>
              <a:rPr lang="en-US" sz="950">
                <a:solidFill>
                  <a:srgbClr val="334155"/>
                </a:solidFill>
                <a:latin typeface="Calibri"/>
                <a:ea typeface="Calibri"/>
                <a:cs typeface="Calibri"/>
                <a:sym typeface="Calibri"/>
              </a:rPr>
              <a:t>sí</a:t>
            </a:r>
            <a:r>
              <a:rPr lang="en-US" sz="950">
                <a:solidFill>
                  <a:srgbClr val="334155"/>
                </a:solidFill>
                <a:latin typeface="Calibri"/>
                <a:ea typeface="Calibri"/>
                <a:cs typeface="Calibri"/>
                <a:sym typeface="Calibri"/>
              </a:rPr>
              <a:t> misma una señal de riesgo.</a:t>
            </a:r>
            <a:endParaRPr sz="950">
              <a:solidFill>
                <a:schemeClr val="dk1"/>
              </a:solidFill>
              <a:latin typeface="Calibri"/>
              <a:ea typeface="Calibri"/>
              <a:cs typeface="Calibri"/>
              <a:sym typeface="Calibri"/>
            </a:endParaRPr>
          </a:p>
        </p:txBody>
      </p:sp>
      <p:sp>
        <p:nvSpPr>
          <p:cNvPr id="115" name="Google Shape;115;p4"/>
          <p:cNvSpPr/>
          <p:nvPr/>
        </p:nvSpPr>
        <p:spPr>
          <a:xfrm>
            <a:off x="4709160" y="2951748"/>
            <a:ext cx="4206300" cy="9144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 name="Google Shape;116;p4"/>
          <p:cNvSpPr/>
          <p:nvPr/>
        </p:nvSpPr>
        <p:spPr>
          <a:xfrm>
            <a:off x="4709160" y="2951748"/>
            <a:ext cx="63900" cy="914400"/>
          </a:xfrm>
          <a:prstGeom prst="rect">
            <a:avLst/>
          </a:prstGeom>
          <a:solidFill>
            <a:srgbClr val="C0392B"/>
          </a:solidFill>
          <a:ln cap="flat" cmpd="sng" w="12700">
            <a:solidFill>
              <a:srgbClr val="C039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4"/>
          <p:cNvSpPr/>
          <p:nvPr/>
        </p:nvSpPr>
        <p:spPr>
          <a:xfrm>
            <a:off x="4864608" y="3006612"/>
            <a:ext cx="39318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1100"/>
              <a:buFont typeface="Calibri"/>
              <a:buNone/>
            </a:pPr>
            <a:r>
              <a:rPr b="1" lang="en-US" sz="1100">
                <a:solidFill>
                  <a:srgbClr val="0D1F3C"/>
                </a:solidFill>
                <a:latin typeface="Calibri"/>
                <a:ea typeface="Calibri"/>
                <a:cs typeface="Calibri"/>
                <a:sym typeface="Calibri"/>
              </a:rPr>
              <a:t>Estado civil</a:t>
            </a:r>
            <a:endParaRPr sz="1100">
              <a:solidFill>
                <a:schemeClr val="dk1"/>
              </a:solidFill>
              <a:latin typeface="Calibri"/>
              <a:ea typeface="Calibri"/>
              <a:cs typeface="Calibri"/>
              <a:sym typeface="Calibri"/>
            </a:endParaRPr>
          </a:p>
        </p:txBody>
      </p:sp>
      <p:sp>
        <p:nvSpPr>
          <p:cNvPr id="118" name="Google Shape;118;p4"/>
          <p:cNvSpPr/>
          <p:nvPr/>
        </p:nvSpPr>
        <p:spPr>
          <a:xfrm>
            <a:off x="4864608" y="3262644"/>
            <a:ext cx="39318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1" lang="en-US" sz="950">
                <a:solidFill>
                  <a:srgbClr val="334155"/>
                </a:solidFill>
                <a:latin typeface="Calibri"/>
                <a:ea typeface="Calibri"/>
                <a:cs typeface="Calibri"/>
                <a:sym typeface="Calibri"/>
              </a:rPr>
              <a:t>Correlación</a:t>
            </a:r>
            <a:r>
              <a:rPr b="1" lang="en-US" sz="950">
                <a:solidFill>
                  <a:srgbClr val="334155"/>
                </a:solidFill>
                <a:latin typeface="Calibri"/>
                <a:ea typeface="Calibri"/>
                <a:cs typeface="Calibri"/>
                <a:sym typeface="Calibri"/>
              </a:rPr>
              <a:t> positiva con ACV (r=0.06)</a:t>
            </a:r>
            <a:r>
              <a:rPr lang="en-US" sz="950">
                <a:solidFill>
                  <a:srgbClr val="334155"/>
                </a:solidFill>
                <a:latin typeface="Calibri"/>
                <a:ea typeface="Calibri"/>
                <a:cs typeface="Calibri"/>
                <a:sym typeface="Calibri"/>
              </a:rPr>
              <a:t>, probablemente porque las personas casadas tienden a ser mayores.</a:t>
            </a:r>
            <a:endParaRPr sz="950">
              <a:solidFill>
                <a:schemeClr val="dk1"/>
              </a:solidFill>
              <a:latin typeface="Calibri"/>
              <a:ea typeface="Calibri"/>
              <a:cs typeface="Calibri"/>
              <a:sym typeface="Calibri"/>
            </a:endParaRPr>
          </a:p>
        </p:txBody>
      </p:sp>
      <p:sp>
        <p:nvSpPr>
          <p:cNvPr id="119" name="Google Shape;119;p4"/>
          <p:cNvSpPr/>
          <p:nvPr/>
        </p:nvSpPr>
        <p:spPr>
          <a:xfrm>
            <a:off x="228600" y="3985020"/>
            <a:ext cx="4206300" cy="9144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0" name="Google Shape;120;p4"/>
          <p:cNvSpPr/>
          <p:nvPr/>
        </p:nvSpPr>
        <p:spPr>
          <a:xfrm>
            <a:off x="228600" y="3985020"/>
            <a:ext cx="63900" cy="914400"/>
          </a:xfrm>
          <a:prstGeom prst="rect">
            <a:avLst/>
          </a:prstGeom>
          <a:solidFill>
            <a:srgbClr val="065A82"/>
          </a:solidFill>
          <a:ln cap="flat" cmpd="sng" w="12700">
            <a:solidFill>
              <a:srgbClr val="065A8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4"/>
          <p:cNvSpPr/>
          <p:nvPr/>
        </p:nvSpPr>
        <p:spPr>
          <a:xfrm>
            <a:off x="384048" y="4039884"/>
            <a:ext cx="39318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1100"/>
              <a:buFont typeface="Calibri"/>
              <a:buNone/>
            </a:pPr>
            <a:r>
              <a:rPr b="1" lang="en-US" sz="1100">
                <a:solidFill>
                  <a:srgbClr val="0D1F3C"/>
                </a:solidFill>
                <a:latin typeface="Calibri"/>
                <a:ea typeface="Calibri"/>
                <a:cs typeface="Calibri"/>
                <a:sym typeface="Calibri"/>
              </a:rPr>
              <a:t>Genero</a:t>
            </a:r>
            <a:endParaRPr sz="1100">
              <a:solidFill>
                <a:schemeClr val="dk1"/>
              </a:solidFill>
              <a:latin typeface="Calibri"/>
              <a:ea typeface="Calibri"/>
              <a:cs typeface="Calibri"/>
              <a:sym typeface="Calibri"/>
            </a:endParaRPr>
          </a:p>
        </p:txBody>
      </p:sp>
      <p:sp>
        <p:nvSpPr>
          <p:cNvPr id="122" name="Google Shape;122;p4"/>
          <p:cNvSpPr/>
          <p:nvPr/>
        </p:nvSpPr>
        <p:spPr>
          <a:xfrm>
            <a:off x="384048" y="4295916"/>
            <a:ext cx="39318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1" lang="en-US" sz="950">
                <a:solidFill>
                  <a:srgbClr val="334155"/>
                </a:solidFill>
                <a:latin typeface="Calibri"/>
                <a:ea typeface="Calibri"/>
                <a:cs typeface="Calibri"/>
                <a:sym typeface="Calibri"/>
              </a:rPr>
              <a:t>Correlación</a:t>
            </a:r>
            <a:r>
              <a:rPr b="1" lang="en-US" sz="950">
                <a:solidFill>
                  <a:srgbClr val="334155"/>
                </a:solidFill>
                <a:latin typeface="Calibri"/>
                <a:ea typeface="Calibri"/>
                <a:cs typeface="Calibri"/>
                <a:sym typeface="Calibri"/>
              </a:rPr>
              <a:t> muy baja (r=0.02)</a:t>
            </a:r>
            <a:r>
              <a:rPr lang="en-US" sz="950">
                <a:solidFill>
                  <a:srgbClr val="334155"/>
                </a:solidFill>
                <a:latin typeface="Calibri"/>
                <a:ea typeface="Calibri"/>
                <a:cs typeface="Calibri"/>
                <a:sym typeface="Calibri"/>
              </a:rPr>
              <a:t>. El </a:t>
            </a:r>
            <a:r>
              <a:rPr lang="en-US" sz="950">
                <a:solidFill>
                  <a:srgbClr val="334155"/>
                </a:solidFill>
                <a:latin typeface="Calibri"/>
                <a:ea typeface="Calibri"/>
                <a:cs typeface="Calibri"/>
                <a:sym typeface="Calibri"/>
              </a:rPr>
              <a:t>género</a:t>
            </a:r>
            <a:r>
              <a:rPr lang="en-US" sz="950">
                <a:solidFill>
                  <a:srgbClr val="334155"/>
                </a:solidFill>
                <a:latin typeface="Calibri"/>
                <a:ea typeface="Calibri"/>
                <a:cs typeface="Calibri"/>
                <a:sym typeface="Calibri"/>
              </a:rPr>
              <a:t> por </a:t>
            </a:r>
            <a:r>
              <a:rPr lang="en-US" sz="950">
                <a:solidFill>
                  <a:srgbClr val="334155"/>
                </a:solidFill>
                <a:latin typeface="Calibri"/>
                <a:ea typeface="Calibri"/>
                <a:cs typeface="Calibri"/>
                <a:sym typeface="Calibri"/>
              </a:rPr>
              <a:t>sí</a:t>
            </a:r>
            <a:r>
              <a:rPr lang="en-US" sz="950">
                <a:solidFill>
                  <a:srgbClr val="334155"/>
                </a:solidFill>
                <a:latin typeface="Calibri"/>
                <a:ea typeface="Calibri"/>
                <a:cs typeface="Calibri"/>
                <a:sym typeface="Calibri"/>
              </a:rPr>
              <a:t> solo no predice significativamente el riesgo de ACV.</a:t>
            </a:r>
            <a:endParaRPr sz="950">
              <a:solidFill>
                <a:schemeClr val="dk1"/>
              </a:solidFill>
              <a:latin typeface="Calibri"/>
              <a:ea typeface="Calibri"/>
              <a:cs typeface="Calibri"/>
              <a:sym typeface="Calibri"/>
            </a:endParaRPr>
          </a:p>
        </p:txBody>
      </p:sp>
      <p:sp>
        <p:nvSpPr>
          <p:cNvPr id="123" name="Google Shape;123;p4"/>
          <p:cNvSpPr/>
          <p:nvPr/>
        </p:nvSpPr>
        <p:spPr>
          <a:xfrm>
            <a:off x="4709160" y="3985020"/>
            <a:ext cx="4206300" cy="9144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4" name="Google Shape;124;p4"/>
          <p:cNvSpPr/>
          <p:nvPr/>
        </p:nvSpPr>
        <p:spPr>
          <a:xfrm>
            <a:off x="4709160" y="3985020"/>
            <a:ext cx="63900" cy="914400"/>
          </a:xfrm>
          <a:prstGeom prst="rect">
            <a:avLst/>
          </a:prstGeom>
          <a:solidFill>
            <a:srgbClr val="15803D"/>
          </a:solidFill>
          <a:ln cap="flat" cmpd="sng" w="12700">
            <a:solidFill>
              <a:srgbClr val="1580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4"/>
          <p:cNvSpPr/>
          <p:nvPr/>
        </p:nvSpPr>
        <p:spPr>
          <a:xfrm>
            <a:off x="4864608" y="4039884"/>
            <a:ext cx="3931800" cy="25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1100"/>
              <a:buFont typeface="Calibri"/>
              <a:buNone/>
            </a:pPr>
            <a:r>
              <a:rPr b="1" lang="en-US" sz="1100">
                <a:solidFill>
                  <a:srgbClr val="0D1F3C"/>
                </a:solidFill>
                <a:latin typeface="Calibri"/>
                <a:ea typeface="Calibri"/>
                <a:cs typeface="Calibri"/>
                <a:sym typeface="Calibri"/>
              </a:rPr>
              <a:t>Tipo de trabajo y residencia</a:t>
            </a:r>
            <a:endParaRPr sz="1100">
              <a:solidFill>
                <a:schemeClr val="dk1"/>
              </a:solidFill>
              <a:latin typeface="Calibri"/>
              <a:ea typeface="Calibri"/>
              <a:cs typeface="Calibri"/>
              <a:sym typeface="Calibri"/>
            </a:endParaRPr>
          </a:p>
        </p:txBody>
      </p:sp>
      <p:sp>
        <p:nvSpPr>
          <p:cNvPr id="126" name="Google Shape;126;p4"/>
          <p:cNvSpPr/>
          <p:nvPr/>
        </p:nvSpPr>
        <p:spPr>
          <a:xfrm>
            <a:off x="4864608" y="4295916"/>
            <a:ext cx="39318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950"/>
              <a:buFont typeface="Calibri"/>
              <a:buNone/>
            </a:pPr>
            <a:r>
              <a:rPr b="1" lang="en-US" sz="950">
                <a:solidFill>
                  <a:srgbClr val="334155"/>
                </a:solidFill>
                <a:latin typeface="Calibri"/>
                <a:ea typeface="Calibri"/>
                <a:cs typeface="Calibri"/>
                <a:sym typeface="Calibri"/>
              </a:rPr>
              <a:t>Los trabajadores independientes muestran mayor tasa de ACV (~8%)</a:t>
            </a:r>
            <a:r>
              <a:rPr lang="en-US" sz="950">
                <a:solidFill>
                  <a:srgbClr val="334155"/>
                </a:solidFill>
                <a:latin typeface="Calibri"/>
                <a:ea typeface="Calibri"/>
                <a:cs typeface="Calibri"/>
                <a:sym typeface="Calibri"/>
              </a:rPr>
              <a:t>, posiblemente relacionado con la edad y el </a:t>
            </a:r>
            <a:r>
              <a:rPr lang="en-US" sz="950">
                <a:solidFill>
                  <a:srgbClr val="334155"/>
                </a:solidFill>
                <a:latin typeface="Calibri"/>
                <a:ea typeface="Calibri"/>
                <a:cs typeface="Calibri"/>
                <a:sym typeface="Calibri"/>
              </a:rPr>
              <a:t>estrés</a:t>
            </a:r>
            <a:r>
              <a:rPr lang="en-US" sz="950">
                <a:solidFill>
                  <a:srgbClr val="334155"/>
                </a:solidFill>
                <a:latin typeface="Calibri"/>
                <a:ea typeface="Calibri"/>
                <a:cs typeface="Calibri"/>
                <a:sym typeface="Calibri"/>
              </a:rPr>
              <a:t> </a:t>
            </a:r>
            <a:r>
              <a:rPr lang="en-US" sz="950">
                <a:solidFill>
                  <a:srgbClr val="334155"/>
                </a:solidFill>
                <a:latin typeface="Calibri"/>
                <a:ea typeface="Calibri"/>
                <a:cs typeface="Calibri"/>
                <a:sym typeface="Calibri"/>
              </a:rPr>
              <a:t>crónico</a:t>
            </a:r>
            <a:r>
              <a:rPr lang="en-US" sz="950">
                <a:solidFill>
                  <a:srgbClr val="334155"/>
                </a:solidFill>
                <a:latin typeface="Calibri"/>
                <a:ea typeface="Calibri"/>
                <a:cs typeface="Calibri"/>
                <a:sym typeface="Calibri"/>
              </a:rPr>
              <a:t>.</a:t>
            </a:r>
            <a:endParaRPr sz="95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31" name="Shape 131"/>
        <p:cNvGrpSpPr/>
        <p:nvPr/>
      </p:nvGrpSpPr>
      <p:grpSpPr>
        <a:xfrm>
          <a:off x="0" y="0"/>
          <a:ext cx="0" cy="0"/>
          <a:chOff x="0" y="0"/>
          <a:chExt cx="0" cy="0"/>
        </a:xfrm>
      </p:grpSpPr>
      <p:sp>
        <p:nvSpPr>
          <p:cNvPr id="132" name="Google Shape;132;p5"/>
          <p:cNvSpPr/>
          <p:nvPr/>
        </p:nvSpPr>
        <p:spPr>
          <a:xfrm>
            <a:off x="0" y="0"/>
            <a:ext cx="9144000" cy="822960"/>
          </a:xfrm>
          <a:prstGeom prst="rect">
            <a:avLst/>
          </a:prstGeom>
          <a:solidFill>
            <a:srgbClr val="0D1F3C"/>
          </a:solidFill>
          <a:ln cap="flat" cmpd="sng" w="12700">
            <a:solidFill>
              <a:srgbClr val="0D1F3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5"/>
          <p:cNvSpPr/>
          <p:nvPr/>
        </p:nvSpPr>
        <p:spPr>
          <a:xfrm>
            <a:off x="365760" y="0"/>
            <a:ext cx="82296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¿QU</a:t>
            </a:r>
            <a:r>
              <a:rPr b="1" lang="en-US" sz="2200">
                <a:solidFill>
                  <a:srgbClr val="FFFFFF"/>
                </a:solidFill>
                <a:latin typeface="Calibri"/>
                <a:ea typeface="Calibri"/>
                <a:cs typeface="Calibri"/>
                <a:sym typeface="Calibri"/>
              </a:rPr>
              <a:t>É</a:t>
            </a:r>
            <a:r>
              <a:rPr b="1" lang="en-US" sz="2200">
                <a:solidFill>
                  <a:srgbClr val="FFFFFF"/>
                </a:solidFill>
                <a:latin typeface="Calibri"/>
                <a:ea typeface="Calibri"/>
                <a:cs typeface="Calibri"/>
                <a:sym typeface="Calibri"/>
              </a:rPr>
              <a:t> MODELOS PROBAMOS Y </a:t>
            </a:r>
            <a:r>
              <a:rPr b="1" lang="en-US" sz="2200">
                <a:solidFill>
                  <a:srgbClr val="FFFFFF"/>
                </a:solidFill>
                <a:latin typeface="Calibri"/>
                <a:ea typeface="Calibri"/>
                <a:cs typeface="Calibri"/>
                <a:sym typeface="Calibri"/>
              </a:rPr>
              <a:t>CUÁL</a:t>
            </a:r>
            <a:r>
              <a:rPr b="1" lang="en-US" sz="2200">
                <a:solidFill>
                  <a:srgbClr val="FFFFFF"/>
                </a:solidFill>
                <a:latin typeface="Calibri"/>
                <a:ea typeface="Calibri"/>
                <a:cs typeface="Calibri"/>
                <a:sym typeface="Calibri"/>
              </a:rPr>
              <a:t> ELEGIMOS?</a:t>
            </a:r>
            <a:endParaRPr sz="2200">
              <a:solidFill>
                <a:schemeClr val="dk1"/>
              </a:solidFill>
              <a:latin typeface="Calibri"/>
              <a:ea typeface="Calibri"/>
              <a:cs typeface="Calibri"/>
              <a:sym typeface="Calibri"/>
            </a:endParaRPr>
          </a:p>
        </p:txBody>
      </p:sp>
      <p:sp>
        <p:nvSpPr>
          <p:cNvPr id="134" name="Google Shape;134;p5"/>
          <p:cNvSpPr/>
          <p:nvPr/>
        </p:nvSpPr>
        <p:spPr>
          <a:xfrm>
            <a:off x="274320" y="960120"/>
            <a:ext cx="4023360" cy="393192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 name="Google Shape;135;p5"/>
          <p:cNvSpPr/>
          <p:nvPr/>
        </p:nvSpPr>
        <p:spPr>
          <a:xfrm>
            <a:off x="274320" y="960120"/>
            <a:ext cx="4023360" cy="457200"/>
          </a:xfrm>
          <a:prstGeom prst="rect">
            <a:avLst/>
          </a:prstGeom>
          <a:solidFill>
            <a:srgbClr val="028090"/>
          </a:solidFill>
          <a:ln cap="flat" cmpd="sng" w="12700">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 name="Google Shape;136;p5"/>
          <p:cNvSpPr/>
          <p:nvPr/>
        </p:nvSpPr>
        <p:spPr>
          <a:xfrm>
            <a:off x="365760" y="960120"/>
            <a:ext cx="3840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Regresion Logistica con SMOTE</a:t>
            </a:r>
            <a:endParaRPr sz="1200">
              <a:solidFill>
                <a:schemeClr val="dk1"/>
              </a:solidFill>
              <a:latin typeface="Calibri"/>
              <a:ea typeface="Calibri"/>
              <a:cs typeface="Calibri"/>
              <a:sym typeface="Calibri"/>
            </a:endParaRPr>
          </a:p>
        </p:txBody>
      </p:sp>
      <p:sp>
        <p:nvSpPr>
          <p:cNvPr id="137" name="Google Shape;137;p5"/>
          <p:cNvSpPr/>
          <p:nvPr/>
        </p:nvSpPr>
        <p:spPr>
          <a:xfrm>
            <a:off x="457200" y="1508760"/>
            <a:ext cx="3657600" cy="3200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1050"/>
              <a:buFont typeface="Calibri"/>
              <a:buNone/>
            </a:pPr>
            <a:r>
              <a:rPr b="1" lang="en-US" sz="1050">
                <a:solidFill>
                  <a:srgbClr val="334155"/>
                </a:solidFill>
                <a:latin typeface="Calibri"/>
                <a:ea typeface="Calibri"/>
                <a:cs typeface="Calibri"/>
                <a:sym typeface="Calibri"/>
              </a:rPr>
              <a:t>¿Qu</a:t>
            </a:r>
            <a:r>
              <a:rPr b="1" lang="en-US" sz="1050">
                <a:solidFill>
                  <a:srgbClr val="334155"/>
                </a:solidFill>
                <a:latin typeface="Calibri"/>
                <a:ea typeface="Calibri"/>
                <a:cs typeface="Calibri"/>
                <a:sym typeface="Calibri"/>
              </a:rPr>
              <a:t>é</a:t>
            </a:r>
            <a:r>
              <a:rPr b="1" lang="en-US" sz="1050">
                <a:solidFill>
                  <a:srgbClr val="334155"/>
                </a:solidFill>
                <a:latin typeface="Calibri"/>
                <a:ea typeface="Calibri"/>
                <a:cs typeface="Calibri"/>
                <a:sym typeface="Calibri"/>
              </a:rPr>
              <a:t> hace?</a:t>
            </a:r>
            <a:endParaRPr sz="1050">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50"/>
              <a:buFont typeface="Calibri"/>
              <a:buNone/>
            </a:pPr>
            <a:r>
              <a:rPr lang="en-US" sz="1050">
                <a:solidFill>
                  <a:srgbClr val="334155"/>
                </a:solidFill>
                <a:latin typeface="Calibri"/>
                <a:ea typeface="Calibri"/>
                <a:cs typeface="Calibri"/>
                <a:sym typeface="Calibri"/>
              </a:rPr>
              <a:t>Calcula la probabilidad de ACV usando una </a:t>
            </a:r>
            <a:r>
              <a:rPr lang="en-US" sz="1050">
                <a:solidFill>
                  <a:srgbClr val="334155"/>
                </a:solidFill>
                <a:latin typeface="Calibri"/>
                <a:ea typeface="Calibri"/>
                <a:cs typeface="Calibri"/>
                <a:sym typeface="Calibri"/>
              </a:rPr>
              <a:t>fórmula</a:t>
            </a:r>
            <a:r>
              <a:rPr lang="en-US" sz="1050">
                <a:solidFill>
                  <a:srgbClr val="334155"/>
                </a:solidFill>
                <a:latin typeface="Calibri"/>
                <a:ea typeface="Calibri"/>
                <a:cs typeface="Calibri"/>
                <a:sym typeface="Calibri"/>
              </a:rPr>
              <a:t> </a:t>
            </a:r>
            <a:r>
              <a:rPr lang="en-US" sz="1050">
                <a:solidFill>
                  <a:srgbClr val="334155"/>
                </a:solidFill>
                <a:latin typeface="Calibri"/>
                <a:ea typeface="Calibri"/>
                <a:cs typeface="Calibri"/>
                <a:sym typeface="Calibri"/>
              </a:rPr>
              <a:t>matemática</a:t>
            </a:r>
            <a:r>
              <a:rPr lang="en-US" sz="1050">
                <a:solidFill>
                  <a:srgbClr val="334155"/>
                </a:solidFill>
                <a:latin typeface="Calibri"/>
                <a:ea typeface="Calibri"/>
                <a:cs typeface="Calibri"/>
                <a:sym typeface="Calibri"/>
              </a:rPr>
              <a:t> sencilla, como una receta con ingredientes y sus cantidades. Cada variable del paciente tiene un peso y la suma da el nivel de riesgo.</a:t>
            </a:r>
            <a:endParaRPr sz="1050">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50"/>
              <a:buFont typeface="Calibri"/>
              <a:buNone/>
            </a:pPr>
            <a:r>
              <a:rPr lang="en-US" sz="1050">
                <a:solidFill>
                  <a:srgbClr val="334155"/>
                </a:solidFill>
                <a:latin typeface="Calibri"/>
                <a:ea typeface="Calibri"/>
                <a:cs typeface="Calibri"/>
                <a:sym typeface="Calibri"/>
              </a:rPr>
              <a:t> </a:t>
            </a:r>
            <a:endParaRPr sz="1050">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50"/>
              <a:buFont typeface="Calibri"/>
              <a:buNone/>
            </a:pPr>
            <a:r>
              <a:rPr b="1" lang="en-US" sz="1050">
                <a:solidFill>
                  <a:srgbClr val="334155"/>
                </a:solidFill>
                <a:latin typeface="Calibri"/>
                <a:ea typeface="Calibri"/>
                <a:cs typeface="Calibri"/>
                <a:sym typeface="Calibri"/>
              </a:rPr>
              <a:t>¿Por qu</a:t>
            </a:r>
            <a:r>
              <a:rPr b="1" lang="en-US" sz="1050">
                <a:solidFill>
                  <a:srgbClr val="334155"/>
                </a:solidFill>
                <a:latin typeface="Calibri"/>
                <a:ea typeface="Calibri"/>
                <a:cs typeface="Calibri"/>
                <a:sym typeface="Calibri"/>
              </a:rPr>
              <a:t>é</a:t>
            </a:r>
            <a:r>
              <a:rPr b="1" lang="en-US" sz="1050">
                <a:solidFill>
                  <a:srgbClr val="334155"/>
                </a:solidFill>
                <a:latin typeface="Calibri"/>
                <a:ea typeface="Calibri"/>
                <a:cs typeface="Calibri"/>
                <a:sym typeface="Calibri"/>
              </a:rPr>
              <a:t> SMOTE?</a:t>
            </a:r>
            <a:endParaRPr sz="1050">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50"/>
              <a:buFont typeface="Calibri"/>
              <a:buNone/>
            </a:pPr>
            <a:r>
              <a:rPr lang="en-US" sz="1050">
                <a:solidFill>
                  <a:srgbClr val="334155"/>
                </a:solidFill>
                <a:latin typeface="Calibri"/>
                <a:ea typeface="Calibri"/>
                <a:cs typeface="Calibri"/>
                <a:sym typeface="Calibri"/>
              </a:rPr>
              <a:t>Solo el 5.8% de los datos tiene ACV. SMOTE crea ejemplos </a:t>
            </a:r>
            <a:r>
              <a:rPr lang="en-US" sz="1050">
                <a:solidFill>
                  <a:srgbClr val="334155"/>
                </a:solidFill>
                <a:latin typeface="Calibri"/>
                <a:ea typeface="Calibri"/>
                <a:cs typeface="Calibri"/>
                <a:sym typeface="Calibri"/>
              </a:rPr>
              <a:t>sintéticos</a:t>
            </a:r>
            <a:r>
              <a:rPr lang="en-US" sz="1050">
                <a:solidFill>
                  <a:srgbClr val="334155"/>
                </a:solidFill>
                <a:latin typeface="Calibri"/>
                <a:ea typeface="Calibri"/>
                <a:cs typeface="Calibri"/>
                <a:sym typeface="Calibri"/>
              </a:rPr>
              <a:t> de pacientes con ACV para que el modelo no ignore esa </a:t>
            </a:r>
            <a:r>
              <a:rPr lang="en-US" sz="1050">
                <a:solidFill>
                  <a:srgbClr val="334155"/>
                </a:solidFill>
                <a:latin typeface="Calibri"/>
                <a:ea typeface="Calibri"/>
                <a:cs typeface="Calibri"/>
                <a:sym typeface="Calibri"/>
              </a:rPr>
              <a:t>minoría</a:t>
            </a:r>
            <a:r>
              <a:rPr lang="en-US" sz="1050">
                <a:solidFill>
                  <a:srgbClr val="334155"/>
                </a:solidFill>
                <a:latin typeface="Calibri"/>
                <a:ea typeface="Calibri"/>
                <a:cs typeface="Calibri"/>
                <a:sym typeface="Calibri"/>
              </a:rPr>
              <a:t>.</a:t>
            </a:r>
            <a:endParaRPr sz="1050">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50"/>
              <a:buFont typeface="Calibri"/>
              <a:buNone/>
            </a:pPr>
            <a:r>
              <a:rPr lang="en-US" sz="1050">
                <a:solidFill>
                  <a:srgbClr val="334155"/>
                </a:solidFill>
                <a:latin typeface="Calibri"/>
                <a:ea typeface="Calibri"/>
                <a:cs typeface="Calibri"/>
                <a:sym typeface="Calibri"/>
              </a:rPr>
              <a:t> </a:t>
            </a:r>
            <a:endParaRPr sz="1050">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50"/>
              <a:buFont typeface="Calibri"/>
              <a:buNone/>
            </a:pPr>
            <a:r>
              <a:rPr lang="en-US" sz="1050">
                <a:solidFill>
                  <a:srgbClr val="334155"/>
                </a:solidFill>
                <a:latin typeface="Calibri"/>
                <a:ea typeface="Calibri"/>
                <a:cs typeface="Calibri"/>
                <a:sym typeface="Calibri"/>
              </a:rPr>
              <a:t>Ventaja: el </a:t>
            </a:r>
            <a:r>
              <a:rPr lang="en-US" sz="1050">
                <a:solidFill>
                  <a:srgbClr val="334155"/>
                </a:solidFill>
                <a:latin typeface="Calibri"/>
                <a:ea typeface="Calibri"/>
                <a:cs typeface="Calibri"/>
                <a:sym typeface="Calibri"/>
              </a:rPr>
              <a:t>médico</a:t>
            </a:r>
            <a:r>
              <a:rPr lang="en-US" sz="1050">
                <a:solidFill>
                  <a:srgbClr val="334155"/>
                </a:solidFill>
                <a:latin typeface="Calibri"/>
                <a:ea typeface="Calibri"/>
                <a:cs typeface="Calibri"/>
                <a:sym typeface="Calibri"/>
              </a:rPr>
              <a:t> puede ver exactamente </a:t>
            </a:r>
            <a:r>
              <a:rPr lang="en-US" sz="1050">
                <a:solidFill>
                  <a:srgbClr val="334155"/>
                </a:solidFill>
                <a:latin typeface="Calibri"/>
                <a:ea typeface="Calibri"/>
                <a:cs typeface="Calibri"/>
                <a:sym typeface="Calibri"/>
              </a:rPr>
              <a:t>cuánto</a:t>
            </a:r>
            <a:r>
              <a:rPr lang="en-US" sz="1050">
                <a:solidFill>
                  <a:srgbClr val="334155"/>
                </a:solidFill>
                <a:latin typeface="Calibri"/>
                <a:ea typeface="Calibri"/>
                <a:cs typeface="Calibri"/>
                <a:sym typeface="Calibri"/>
              </a:rPr>
              <a:t> contribuye cada factor.</a:t>
            </a:r>
            <a:endParaRPr sz="1050">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50"/>
              <a:buFont typeface="Calibri"/>
              <a:buNone/>
            </a:pPr>
            <a:r>
              <a:rPr lang="en-US" sz="1050">
                <a:solidFill>
                  <a:srgbClr val="334155"/>
                </a:solidFill>
                <a:latin typeface="Calibri"/>
                <a:ea typeface="Calibri"/>
                <a:cs typeface="Calibri"/>
                <a:sym typeface="Calibri"/>
              </a:rPr>
              <a:t> </a:t>
            </a:r>
            <a:endParaRPr sz="1050">
              <a:solidFill>
                <a:schemeClr val="dk1"/>
              </a:solidFill>
              <a:latin typeface="Calibri"/>
              <a:ea typeface="Calibri"/>
              <a:cs typeface="Calibri"/>
              <a:sym typeface="Calibri"/>
            </a:endParaRPr>
          </a:p>
          <a:p>
            <a:pPr indent="0" lvl="0" marL="0" marR="0" rtl="0" algn="l">
              <a:spcBef>
                <a:spcPts val="300"/>
              </a:spcBef>
              <a:spcAft>
                <a:spcPts val="0"/>
              </a:spcAft>
              <a:buClr>
                <a:srgbClr val="15803D"/>
              </a:buClr>
              <a:buSzPts val="1050"/>
              <a:buFont typeface="Calibri"/>
              <a:buNone/>
            </a:pPr>
            <a:r>
              <a:rPr b="1" lang="en-US" sz="1050">
                <a:solidFill>
                  <a:srgbClr val="15803D"/>
                </a:solidFill>
                <a:latin typeface="Calibri"/>
                <a:ea typeface="Calibri"/>
                <a:cs typeface="Calibri"/>
                <a:sym typeface="Calibri"/>
              </a:rPr>
              <a:t>ROC-AUC: 0.807  |  Gap overfitting: 2.5%</a:t>
            </a:r>
            <a:endParaRPr sz="1050">
              <a:solidFill>
                <a:schemeClr val="dk1"/>
              </a:solidFill>
              <a:latin typeface="Calibri"/>
              <a:ea typeface="Calibri"/>
              <a:cs typeface="Calibri"/>
              <a:sym typeface="Calibri"/>
            </a:endParaRPr>
          </a:p>
        </p:txBody>
      </p:sp>
      <p:sp>
        <p:nvSpPr>
          <p:cNvPr id="138" name="Google Shape;138;p5"/>
          <p:cNvSpPr/>
          <p:nvPr/>
        </p:nvSpPr>
        <p:spPr>
          <a:xfrm>
            <a:off x="4846320" y="960120"/>
            <a:ext cx="4023360" cy="393192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 name="Google Shape;139;p5"/>
          <p:cNvSpPr/>
          <p:nvPr/>
        </p:nvSpPr>
        <p:spPr>
          <a:xfrm>
            <a:off x="4846320" y="960120"/>
            <a:ext cx="4023360" cy="457200"/>
          </a:xfrm>
          <a:prstGeom prst="rect">
            <a:avLst/>
          </a:prstGeom>
          <a:solidFill>
            <a:srgbClr val="7C3AED"/>
          </a:solidFill>
          <a:ln cap="flat" cmpd="sng" w="12700">
            <a:solidFill>
              <a:srgbClr val="7C3A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 name="Google Shape;140;p5"/>
          <p:cNvSpPr/>
          <p:nvPr/>
        </p:nvSpPr>
        <p:spPr>
          <a:xfrm>
            <a:off x="4937760" y="960120"/>
            <a:ext cx="3840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Random Forest con pesos balanceados</a:t>
            </a:r>
            <a:endParaRPr sz="1200">
              <a:solidFill>
                <a:schemeClr val="dk1"/>
              </a:solidFill>
              <a:latin typeface="Calibri"/>
              <a:ea typeface="Calibri"/>
              <a:cs typeface="Calibri"/>
              <a:sym typeface="Calibri"/>
            </a:endParaRPr>
          </a:p>
        </p:txBody>
      </p:sp>
      <p:sp>
        <p:nvSpPr>
          <p:cNvPr id="141" name="Google Shape;141;p5"/>
          <p:cNvSpPr/>
          <p:nvPr/>
        </p:nvSpPr>
        <p:spPr>
          <a:xfrm>
            <a:off x="4983480" y="1508760"/>
            <a:ext cx="3657600" cy="3200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1050"/>
              <a:buFont typeface="Calibri"/>
              <a:buNone/>
            </a:pPr>
            <a:r>
              <a:rPr b="1" lang="en-US" sz="1050">
                <a:solidFill>
                  <a:srgbClr val="334155"/>
                </a:solidFill>
                <a:latin typeface="Calibri"/>
                <a:ea typeface="Calibri"/>
                <a:cs typeface="Calibri"/>
                <a:sym typeface="Calibri"/>
              </a:rPr>
              <a:t>¿Qu</a:t>
            </a:r>
            <a:r>
              <a:rPr b="1" lang="en-US" sz="1050">
                <a:solidFill>
                  <a:srgbClr val="334155"/>
                </a:solidFill>
                <a:latin typeface="Calibri"/>
                <a:ea typeface="Calibri"/>
                <a:cs typeface="Calibri"/>
                <a:sym typeface="Calibri"/>
              </a:rPr>
              <a:t>é</a:t>
            </a:r>
            <a:r>
              <a:rPr b="1" lang="en-US" sz="1050">
                <a:solidFill>
                  <a:srgbClr val="334155"/>
                </a:solidFill>
                <a:latin typeface="Calibri"/>
                <a:ea typeface="Calibri"/>
                <a:cs typeface="Calibri"/>
                <a:sym typeface="Calibri"/>
              </a:rPr>
              <a:t> hace?</a:t>
            </a:r>
            <a:endParaRPr sz="1050">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50"/>
              <a:buFont typeface="Calibri"/>
              <a:buNone/>
            </a:pPr>
            <a:r>
              <a:rPr lang="en-US" sz="1050">
                <a:solidFill>
                  <a:srgbClr val="334155"/>
                </a:solidFill>
                <a:latin typeface="Calibri"/>
                <a:ea typeface="Calibri"/>
                <a:cs typeface="Calibri"/>
                <a:sym typeface="Calibri"/>
              </a:rPr>
              <a:t>Construye cientos de </a:t>
            </a:r>
            <a:r>
              <a:rPr lang="en-US" sz="1050">
                <a:solidFill>
                  <a:srgbClr val="334155"/>
                </a:solidFill>
                <a:latin typeface="Calibri"/>
                <a:ea typeface="Calibri"/>
                <a:cs typeface="Calibri"/>
                <a:sym typeface="Calibri"/>
              </a:rPr>
              <a:t>árboles</a:t>
            </a:r>
            <a:r>
              <a:rPr lang="en-US" sz="1050">
                <a:solidFill>
                  <a:srgbClr val="334155"/>
                </a:solidFill>
                <a:latin typeface="Calibri"/>
                <a:ea typeface="Calibri"/>
                <a:cs typeface="Calibri"/>
                <a:sym typeface="Calibri"/>
              </a:rPr>
              <a:t> de </a:t>
            </a:r>
            <a:r>
              <a:rPr lang="en-US" sz="1050">
                <a:solidFill>
                  <a:srgbClr val="334155"/>
                </a:solidFill>
                <a:latin typeface="Calibri"/>
                <a:ea typeface="Calibri"/>
                <a:cs typeface="Calibri"/>
                <a:sym typeface="Calibri"/>
              </a:rPr>
              <a:t>decisión</a:t>
            </a:r>
            <a:r>
              <a:rPr lang="en-US" sz="1050">
                <a:solidFill>
                  <a:srgbClr val="334155"/>
                </a:solidFill>
                <a:latin typeface="Calibri"/>
                <a:ea typeface="Calibri"/>
                <a:cs typeface="Calibri"/>
                <a:sym typeface="Calibri"/>
              </a:rPr>
              <a:t> y los combina para dar una respuesta </a:t>
            </a:r>
            <a:r>
              <a:rPr lang="en-US" sz="1050">
                <a:solidFill>
                  <a:srgbClr val="334155"/>
                </a:solidFill>
                <a:latin typeface="Calibri"/>
                <a:ea typeface="Calibri"/>
                <a:cs typeface="Calibri"/>
                <a:sym typeface="Calibri"/>
              </a:rPr>
              <a:t>más</a:t>
            </a:r>
            <a:r>
              <a:rPr lang="en-US" sz="1050">
                <a:solidFill>
                  <a:srgbClr val="334155"/>
                </a:solidFill>
                <a:latin typeface="Calibri"/>
                <a:ea typeface="Calibri"/>
                <a:cs typeface="Calibri"/>
                <a:sym typeface="Calibri"/>
              </a:rPr>
              <a:t> confiable. Puede detectar combinaciones complejas de factores que un modelo simple no veria.</a:t>
            </a:r>
            <a:endParaRPr sz="1050">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50"/>
              <a:buFont typeface="Calibri"/>
              <a:buNone/>
            </a:pPr>
            <a:r>
              <a:rPr lang="en-US" sz="1050">
                <a:solidFill>
                  <a:srgbClr val="334155"/>
                </a:solidFill>
                <a:latin typeface="Calibri"/>
                <a:ea typeface="Calibri"/>
                <a:cs typeface="Calibri"/>
                <a:sym typeface="Calibri"/>
              </a:rPr>
              <a:t> </a:t>
            </a:r>
            <a:endParaRPr sz="1050">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50"/>
              <a:buFont typeface="Calibri"/>
              <a:buNone/>
            </a:pPr>
            <a:r>
              <a:rPr b="1" lang="en-US" sz="1050">
                <a:solidFill>
                  <a:srgbClr val="334155"/>
                </a:solidFill>
                <a:latin typeface="Calibri"/>
                <a:ea typeface="Calibri"/>
                <a:cs typeface="Calibri"/>
                <a:sym typeface="Calibri"/>
              </a:rPr>
              <a:t>¿Por </a:t>
            </a:r>
            <a:r>
              <a:rPr b="1" lang="en-US" sz="1050">
                <a:solidFill>
                  <a:srgbClr val="334155"/>
                </a:solidFill>
                <a:latin typeface="Calibri"/>
                <a:ea typeface="Calibri"/>
                <a:cs typeface="Calibri"/>
                <a:sym typeface="Calibri"/>
              </a:rPr>
              <a:t>qué</a:t>
            </a:r>
            <a:r>
              <a:rPr b="1" lang="en-US" sz="1050">
                <a:solidFill>
                  <a:srgbClr val="334155"/>
                </a:solidFill>
                <a:latin typeface="Calibri"/>
                <a:ea typeface="Calibri"/>
                <a:cs typeface="Calibri"/>
                <a:sym typeface="Calibri"/>
              </a:rPr>
              <a:t> pesos balanceados?</a:t>
            </a:r>
            <a:endParaRPr sz="1050">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50"/>
              <a:buFont typeface="Calibri"/>
              <a:buNone/>
            </a:pPr>
            <a:r>
              <a:rPr lang="en-US" sz="1050">
                <a:solidFill>
                  <a:srgbClr val="334155"/>
                </a:solidFill>
                <a:latin typeface="Calibri"/>
                <a:ea typeface="Calibri"/>
                <a:cs typeface="Calibri"/>
                <a:sym typeface="Calibri"/>
              </a:rPr>
              <a:t>En lugar de crear datos </a:t>
            </a:r>
            <a:r>
              <a:rPr lang="en-US" sz="1050">
                <a:solidFill>
                  <a:srgbClr val="334155"/>
                </a:solidFill>
                <a:latin typeface="Calibri"/>
                <a:ea typeface="Calibri"/>
                <a:cs typeface="Calibri"/>
                <a:sym typeface="Calibri"/>
              </a:rPr>
              <a:t>sintéticos</a:t>
            </a:r>
            <a:r>
              <a:rPr lang="en-US" sz="1050">
                <a:solidFill>
                  <a:srgbClr val="334155"/>
                </a:solidFill>
                <a:latin typeface="Calibri"/>
                <a:ea typeface="Calibri"/>
                <a:cs typeface="Calibri"/>
                <a:sym typeface="Calibri"/>
              </a:rPr>
              <a:t>, le da </a:t>
            </a:r>
            <a:r>
              <a:rPr lang="en-US" sz="1050">
                <a:solidFill>
                  <a:srgbClr val="334155"/>
                </a:solidFill>
                <a:latin typeface="Calibri"/>
                <a:ea typeface="Calibri"/>
                <a:cs typeface="Calibri"/>
                <a:sym typeface="Calibri"/>
              </a:rPr>
              <a:t>más</a:t>
            </a:r>
            <a:r>
              <a:rPr lang="en-US" sz="1050">
                <a:solidFill>
                  <a:srgbClr val="334155"/>
                </a:solidFill>
                <a:latin typeface="Calibri"/>
                <a:ea typeface="Calibri"/>
                <a:cs typeface="Calibri"/>
                <a:sym typeface="Calibri"/>
              </a:rPr>
              <a:t> importancia a los casos de ACV durante el entrenamiento para no ignorarlos.</a:t>
            </a:r>
            <a:endParaRPr sz="1050">
              <a:solidFill>
                <a:schemeClr val="dk1"/>
              </a:solidFill>
              <a:latin typeface="Calibri"/>
              <a:ea typeface="Calibri"/>
              <a:cs typeface="Calibri"/>
              <a:sym typeface="Calibri"/>
            </a:endParaRPr>
          </a:p>
          <a:p>
            <a:pPr indent="0" lvl="0" marL="0" marR="0" rtl="0" algn="l">
              <a:spcBef>
                <a:spcPts val="300"/>
              </a:spcBef>
              <a:spcAft>
                <a:spcPts val="0"/>
              </a:spcAft>
              <a:buClr>
                <a:srgbClr val="334155"/>
              </a:buClr>
              <a:buSzPts val="1050"/>
              <a:buFont typeface="Calibri"/>
              <a:buNone/>
            </a:pPr>
            <a:r>
              <a:rPr lang="en-US" sz="1050">
                <a:solidFill>
                  <a:srgbClr val="334155"/>
                </a:solidFill>
                <a:latin typeface="Calibri"/>
                <a:ea typeface="Calibri"/>
                <a:cs typeface="Calibri"/>
                <a:sym typeface="Calibri"/>
              </a:rPr>
              <a:t> </a:t>
            </a:r>
            <a:endParaRPr sz="1050">
              <a:solidFill>
                <a:schemeClr val="dk1"/>
              </a:solidFill>
              <a:latin typeface="Calibri"/>
              <a:ea typeface="Calibri"/>
              <a:cs typeface="Calibri"/>
              <a:sym typeface="Calibri"/>
            </a:endParaRPr>
          </a:p>
          <a:p>
            <a:pPr indent="0" lvl="0" marL="0" marR="0" rtl="0" algn="l">
              <a:spcBef>
                <a:spcPts val="300"/>
              </a:spcBef>
              <a:spcAft>
                <a:spcPts val="0"/>
              </a:spcAft>
              <a:buClr>
                <a:srgbClr val="D4860A"/>
              </a:buClr>
              <a:buSzPts val="1050"/>
              <a:buFont typeface="Calibri"/>
              <a:buNone/>
            </a:pPr>
            <a:r>
              <a:rPr b="1" lang="en-US" sz="1050">
                <a:solidFill>
                  <a:srgbClr val="D4860A"/>
                </a:solidFill>
                <a:latin typeface="Calibri"/>
                <a:ea typeface="Calibri"/>
                <a:cs typeface="Calibri"/>
                <a:sym typeface="Calibri"/>
              </a:rPr>
              <a:t>ROC-AUC: 0.812  |  Gap overfitting: 9.5%</a:t>
            </a:r>
            <a:endParaRPr sz="105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46" name="Shape 146"/>
        <p:cNvGrpSpPr/>
        <p:nvPr/>
      </p:nvGrpSpPr>
      <p:grpSpPr>
        <a:xfrm>
          <a:off x="0" y="0"/>
          <a:ext cx="0" cy="0"/>
          <a:chOff x="0" y="0"/>
          <a:chExt cx="0" cy="0"/>
        </a:xfrm>
      </p:grpSpPr>
      <p:sp>
        <p:nvSpPr>
          <p:cNvPr id="147" name="Google Shape;147;p6"/>
          <p:cNvSpPr/>
          <p:nvPr/>
        </p:nvSpPr>
        <p:spPr>
          <a:xfrm>
            <a:off x="0" y="0"/>
            <a:ext cx="9144000" cy="822960"/>
          </a:xfrm>
          <a:prstGeom prst="rect">
            <a:avLst/>
          </a:prstGeom>
          <a:solidFill>
            <a:srgbClr val="0D1F3C"/>
          </a:solidFill>
          <a:ln cap="flat" cmpd="sng" w="12700">
            <a:solidFill>
              <a:srgbClr val="0D1F3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6"/>
          <p:cNvSpPr/>
          <p:nvPr/>
        </p:nvSpPr>
        <p:spPr>
          <a:xfrm>
            <a:off x="365760" y="0"/>
            <a:ext cx="82296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¿QU</a:t>
            </a:r>
            <a:r>
              <a:rPr b="1" lang="en-US" sz="2200">
                <a:solidFill>
                  <a:srgbClr val="FFFFFF"/>
                </a:solidFill>
                <a:latin typeface="Calibri"/>
                <a:ea typeface="Calibri"/>
                <a:cs typeface="Calibri"/>
                <a:sym typeface="Calibri"/>
              </a:rPr>
              <a:t>É</a:t>
            </a:r>
            <a:r>
              <a:rPr b="1" lang="en-US" sz="2200">
                <a:solidFill>
                  <a:srgbClr val="FFFFFF"/>
                </a:solidFill>
                <a:latin typeface="Calibri"/>
                <a:ea typeface="Calibri"/>
                <a:cs typeface="Calibri"/>
                <a:sym typeface="Calibri"/>
              </a:rPr>
              <a:t> TAN BIEN FUNCIONA CADA MODELO?</a:t>
            </a:r>
            <a:endParaRPr sz="2200">
              <a:solidFill>
                <a:schemeClr val="dk1"/>
              </a:solidFill>
              <a:latin typeface="Calibri"/>
              <a:ea typeface="Calibri"/>
              <a:cs typeface="Calibri"/>
              <a:sym typeface="Calibri"/>
            </a:endParaRPr>
          </a:p>
        </p:txBody>
      </p:sp>
      <p:sp>
        <p:nvSpPr>
          <p:cNvPr id="149" name="Google Shape;149;p6"/>
          <p:cNvSpPr/>
          <p:nvPr/>
        </p:nvSpPr>
        <p:spPr>
          <a:xfrm>
            <a:off x="274320" y="896112"/>
            <a:ext cx="85953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00"/>
              <a:buFont typeface="Calibri"/>
              <a:buNone/>
            </a:pPr>
            <a:r>
              <a:rPr i="1" lang="en-US" sz="1000">
                <a:solidFill>
                  <a:srgbClr val="64748B"/>
                </a:solidFill>
                <a:latin typeface="Calibri"/>
                <a:ea typeface="Calibri"/>
                <a:cs typeface="Calibri"/>
                <a:sym typeface="Calibri"/>
              </a:rPr>
              <a:t>Se probaron con el 20% de datos que el modelo nunca </a:t>
            </a:r>
            <a:r>
              <a:rPr i="1" lang="en-US" sz="1000">
                <a:solidFill>
                  <a:srgbClr val="64748B"/>
                </a:solidFill>
                <a:latin typeface="Calibri"/>
                <a:ea typeface="Calibri"/>
                <a:cs typeface="Calibri"/>
                <a:sym typeface="Calibri"/>
              </a:rPr>
              <a:t>había</a:t>
            </a:r>
            <a:r>
              <a:rPr i="1" lang="en-US" sz="1000">
                <a:solidFill>
                  <a:srgbClr val="64748B"/>
                </a:solidFill>
                <a:latin typeface="Calibri"/>
                <a:ea typeface="Calibri"/>
                <a:cs typeface="Calibri"/>
                <a:sym typeface="Calibri"/>
              </a:rPr>
              <a:t> visto (851 pacientes). </a:t>
            </a:r>
            <a:r>
              <a:rPr i="1" lang="en-US" sz="1000">
                <a:solidFill>
                  <a:srgbClr val="64748B"/>
                </a:solidFill>
                <a:latin typeface="Calibri"/>
                <a:ea typeface="Calibri"/>
                <a:cs typeface="Calibri"/>
                <a:sym typeface="Calibri"/>
              </a:rPr>
              <a:t>Validación</a:t>
            </a:r>
            <a:r>
              <a:rPr i="1" lang="en-US" sz="1000">
                <a:solidFill>
                  <a:srgbClr val="64748B"/>
                </a:solidFill>
                <a:latin typeface="Calibri"/>
                <a:ea typeface="Calibri"/>
                <a:cs typeface="Calibri"/>
                <a:sym typeface="Calibri"/>
              </a:rPr>
              <a:t> cruzada de 5 rondas para confirmar estabilidad.</a:t>
            </a:r>
            <a:endParaRPr sz="1000">
              <a:solidFill>
                <a:schemeClr val="dk1"/>
              </a:solidFill>
              <a:latin typeface="Calibri"/>
              <a:ea typeface="Calibri"/>
              <a:cs typeface="Calibri"/>
              <a:sym typeface="Calibri"/>
            </a:endParaRPr>
          </a:p>
        </p:txBody>
      </p:sp>
      <p:graphicFrame>
        <p:nvGraphicFramePr>
          <p:cNvPr id="150" name="Google Shape;150;p6"/>
          <p:cNvGraphicFramePr/>
          <p:nvPr/>
        </p:nvGraphicFramePr>
        <p:xfrm>
          <a:off x="274320" y="1280160"/>
          <a:ext cx="3000000" cy="3000000"/>
        </p:xfrm>
        <a:graphic>
          <a:graphicData uri="http://schemas.openxmlformats.org/drawingml/2006/table">
            <a:tbl>
              <a:tblPr>
                <a:noFill/>
                <a:tableStyleId>{A15AD3DA-5F99-4432-9D27-C5EC6A7BA399}</a:tableStyleId>
              </a:tblPr>
              <a:tblGrid>
                <a:gridCol w="2743200"/>
                <a:gridCol w="1188725"/>
                <a:gridCol w="1554475"/>
                <a:gridCol w="1463050"/>
                <a:gridCol w="2011675"/>
              </a:tblGrid>
              <a:tr h="487675">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Modelo</a:t>
                      </a:r>
                      <a:endParaRPr sz="11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0D1F3C"/>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ROC-AUC</a:t>
                      </a:r>
                      <a:endParaRPr sz="11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0D1F3C"/>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Recall (detecta)</a:t>
                      </a:r>
                      <a:endParaRPr sz="11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0D1F3C"/>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Gap </a:t>
                      </a:r>
                      <a:r>
                        <a:rPr b="1" lang="en-US" sz="1100">
                          <a:solidFill>
                            <a:srgbClr val="FFFFFF"/>
                          </a:solidFill>
                          <a:latin typeface="Calibri"/>
                          <a:ea typeface="Calibri"/>
                          <a:cs typeface="Calibri"/>
                          <a:sym typeface="Calibri"/>
                        </a:rPr>
                        <a:t>sobre ajuste</a:t>
                      </a:r>
                      <a:endParaRPr sz="11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0D1F3C"/>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Veredicto</a:t>
                      </a:r>
                      <a:endParaRPr sz="11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0D1F3C"/>
                    </a:solidFill>
                  </a:tcPr>
                </a:tc>
              </a:tr>
              <a:tr h="487675">
                <a:tc>
                  <a:txBody>
                    <a:bodyPr/>
                    <a:lstStyle/>
                    <a:p>
                      <a:pPr indent="0" lvl="0" marL="0" marR="0" rtl="0" algn="l">
                        <a:spcBef>
                          <a:spcPts val="0"/>
                        </a:spcBef>
                        <a:spcAft>
                          <a:spcPts val="0"/>
                        </a:spcAft>
                        <a:buClr>
                          <a:srgbClr val="000000"/>
                        </a:buClr>
                        <a:buSzPts val="1100"/>
                        <a:buFont typeface="Calibri"/>
                        <a:buNone/>
                      </a:pPr>
                      <a:r>
                        <a:rPr b="1" lang="en-US" sz="1100" u="none" cap="none" strike="noStrike">
                          <a:solidFill>
                            <a:srgbClr val="000000"/>
                          </a:solidFill>
                          <a:latin typeface="Calibri"/>
                          <a:ea typeface="Calibri"/>
                          <a:cs typeface="Calibri"/>
                          <a:sym typeface="Calibri"/>
                        </a:rPr>
                        <a:t>Regresion Logistica + SMOTE</a:t>
                      </a:r>
                      <a:endParaRPr sz="11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latin typeface="Calibri"/>
                          <a:ea typeface="Calibri"/>
                          <a:cs typeface="Calibri"/>
                          <a:sym typeface="Calibri"/>
                        </a:rPr>
                        <a:t>0.807</a:t>
                      </a:r>
                      <a:endParaRPr sz="11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latin typeface="Calibri"/>
                          <a:ea typeface="Calibri"/>
                          <a:cs typeface="Calibri"/>
                          <a:sym typeface="Calibri"/>
                        </a:rPr>
                        <a:t>63%</a:t>
                      </a:r>
                      <a:endParaRPr sz="11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5803D"/>
                        </a:buClr>
                        <a:buSzPts val="1100"/>
                        <a:buFont typeface="Calibri"/>
                        <a:buNone/>
                      </a:pPr>
                      <a:r>
                        <a:rPr b="1" lang="en-US" sz="1100" u="none" cap="none" strike="noStrike">
                          <a:solidFill>
                            <a:srgbClr val="15803D"/>
                          </a:solidFill>
                          <a:latin typeface="Calibri"/>
                          <a:ea typeface="Calibri"/>
                          <a:cs typeface="Calibri"/>
                          <a:sym typeface="Calibri"/>
                        </a:rPr>
                        <a:t>2.5%</a:t>
                      </a:r>
                      <a:endParaRPr sz="11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5803D"/>
                        </a:buClr>
                        <a:buSzPts val="1100"/>
                        <a:buFont typeface="Calibri"/>
                        <a:buNone/>
                      </a:pPr>
                      <a:r>
                        <a:rPr b="1" lang="en-US" sz="1100" u="none" cap="none" strike="noStrike">
                          <a:solidFill>
                            <a:srgbClr val="15803D"/>
                          </a:solidFill>
                          <a:latin typeface="Calibri"/>
                          <a:ea typeface="Calibri"/>
                          <a:cs typeface="Calibri"/>
                          <a:sym typeface="Calibri"/>
                        </a:rPr>
                        <a:t>ELEGIDO — mas confiable</a:t>
                      </a:r>
                      <a:endParaRPr sz="11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r h="487675">
                <a:tc>
                  <a:txBody>
                    <a:bodyPr/>
                    <a:lstStyle/>
                    <a:p>
                      <a:pPr indent="0" lvl="0" marL="0" marR="0" rtl="0" algn="l">
                        <a:spcBef>
                          <a:spcPts val="0"/>
                        </a:spcBef>
                        <a:spcAft>
                          <a:spcPts val="0"/>
                        </a:spcAft>
                        <a:buClr>
                          <a:srgbClr val="000000"/>
                        </a:buClr>
                        <a:buSzPts val="1100"/>
                        <a:buFont typeface="Calibri"/>
                        <a:buNone/>
                      </a:pPr>
                      <a:r>
                        <a:rPr b="1" lang="en-US" sz="1100" u="none" cap="none" strike="noStrike">
                          <a:solidFill>
                            <a:srgbClr val="000000"/>
                          </a:solidFill>
                          <a:latin typeface="Calibri"/>
                          <a:ea typeface="Calibri"/>
                          <a:cs typeface="Calibri"/>
                          <a:sym typeface="Calibri"/>
                        </a:rPr>
                        <a:t>Random Forest + pesos</a:t>
                      </a:r>
                      <a:endParaRPr sz="11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latin typeface="Calibri"/>
                          <a:ea typeface="Calibri"/>
                          <a:cs typeface="Calibri"/>
                          <a:sym typeface="Calibri"/>
                        </a:rPr>
                        <a:t>0.812</a:t>
                      </a:r>
                      <a:endParaRPr sz="11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latin typeface="Calibri"/>
                          <a:ea typeface="Calibri"/>
                          <a:cs typeface="Calibri"/>
                          <a:sym typeface="Calibri"/>
                        </a:rPr>
                        <a:t>61%</a:t>
                      </a:r>
                      <a:endParaRPr sz="11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D4860A"/>
                        </a:buClr>
                        <a:buSzPts val="1100"/>
                        <a:buFont typeface="Calibri"/>
                        <a:buNone/>
                      </a:pPr>
                      <a:r>
                        <a:rPr b="1" lang="en-US" sz="1100" u="none" cap="none" strike="noStrike">
                          <a:solidFill>
                            <a:srgbClr val="D4860A"/>
                          </a:solidFill>
                          <a:latin typeface="Calibri"/>
                          <a:ea typeface="Calibri"/>
                          <a:cs typeface="Calibri"/>
                          <a:sym typeface="Calibri"/>
                        </a:rPr>
                        <a:t>9.5%</a:t>
                      </a:r>
                      <a:endParaRPr sz="11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D4860A"/>
                        </a:buClr>
                        <a:buSzPts val="1100"/>
                        <a:buFont typeface="Calibri"/>
                        <a:buNone/>
                      </a:pPr>
                      <a:r>
                        <a:rPr b="1" lang="en-US" sz="1100" u="none" cap="none" strike="noStrike">
                          <a:solidFill>
                            <a:srgbClr val="D4860A"/>
                          </a:solidFill>
                          <a:latin typeface="Calibri"/>
                          <a:ea typeface="Calibri"/>
                          <a:cs typeface="Calibri"/>
                          <a:sym typeface="Calibri"/>
                        </a:rPr>
                        <a:t>Descartado — </a:t>
                      </a:r>
                      <a:r>
                        <a:rPr b="1" lang="en-US" sz="1100">
                          <a:solidFill>
                            <a:srgbClr val="D4860A"/>
                          </a:solidFill>
                          <a:latin typeface="Calibri"/>
                          <a:ea typeface="Calibri"/>
                          <a:cs typeface="Calibri"/>
                          <a:sym typeface="Calibri"/>
                        </a:rPr>
                        <a:t>sobre ajuste</a:t>
                      </a:r>
                      <a:endParaRPr sz="1100" u="none" cap="none" strike="noStrike">
                        <a:latin typeface="Calibri"/>
                        <a:ea typeface="Calibri"/>
                        <a:cs typeface="Calibri"/>
                        <a:sym typeface="Calibri"/>
                      </a:endParaRPr>
                    </a:p>
                  </a:txBody>
                  <a:tcPr marT="45725" marB="45725" marR="91450" marL="91450">
                    <a:lnL cap="flat" cmpd="sng" w="9525">
                      <a:solidFill>
                        <a:srgbClr val="E2E8F0"/>
                      </a:solidFill>
                      <a:prstDash val="solid"/>
                      <a:round/>
                      <a:headEnd len="sm" w="sm" type="none"/>
                      <a:tailEnd len="sm" w="sm" type="none"/>
                    </a:lnL>
                    <a:lnR cap="flat" cmpd="sng" w="9525">
                      <a:solidFill>
                        <a:srgbClr val="E2E8F0"/>
                      </a:solidFill>
                      <a:prstDash val="solid"/>
                      <a:round/>
                      <a:headEnd len="sm" w="sm" type="none"/>
                      <a:tailEnd len="sm" w="sm" type="none"/>
                    </a:lnR>
                    <a:lnT cap="flat" cmpd="sng" w="9525">
                      <a:solidFill>
                        <a:srgbClr val="E2E8F0"/>
                      </a:solidFill>
                      <a:prstDash val="solid"/>
                      <a:round/>
                      <a:headEnd len="sm" w="sm" type="none"/>
                      <a:tailEnd len="sm" w="sm" type="none"/>
                    </a:lnT>
                    <a:lnB cap="flat" cmpd="sng" w="9525">
                      <a:solidFill>
                        <a:srgbClr val="E2E8F0"/>
                      </a:solidFill>
                      <a:prstDash val="solid"/>
                      <a:round/>
                      <a:headEnd len="sm" w="sm" type="none"/>
                      <a:tailEnd len="sm" w="sm" type="none"/>
                    </a:lnB>
                    <a:solidFill>
                      <a:srgbClr val="FFFFFF"/>
                    </a:solidFill>
                  </a:tcPr>
                </a:tc>
              </a:tr>
            </a:tbl>
          </a:graphicData>
        </a:graphic>
      </p:graphicFrame>
      <p:sp>
        <p:nvSpPr>
          <p:cNvPr id="151" name="Google Shape;151;p6"/>
          <p:cNvSpPr/>
          <p:nvPr/>
        </p:nvSpPr>
        <p:spPr>
          <a:xfrm>
            <a:off x="274320" y="2880360"/>
            <a:ext cx="85953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1300"/>
              <a:buFont typeface="Calibri"/>
              <a:buNone/>
            </a:pPr>
            <a:r>
              <a:rPr b="1" lang="en-US" sz="1300">
                <a:solidFill>
                  <a:srgbClr val="0D1F3C"/>
                </a:solidFill>
                <a:latin typeface="Calibri"/>
                <a:ea typeface="Calibri"/>
                <a:cs typeface="Calibri"/>
                <a:sym typeface="Calibri"/>
              </a:rPr>
              <a:t>¿Qu</a:t>
            </a:r>
            <a:r>
              <a:rPr b="1" lang="en-US" sz="1300">
                <a:solidFill>
                  <a:srgbClr val="0D1F3C"/>
                </a:solidFill>
                <a:latin typeface="Calibri"/>
                <a:ea typeface="Calibri"/>
                <a:cs typeface="Calibri"/>
                <a:sym typeface="Calibri"/>
              </a:rPr>
              <a:t>é</a:t>
            </a:r>
            <a:r>
              <a:rPr b="1" lang="en-US" sz="1300">
                <a:solidFill>
                  <a:srgbClr val="0D1F3C"/>
                </a:solidFill>
                <a:latin typeface="Calibri"/>
                <a:ea typeface="Calibri"/>
                <a:cs typeface="Calibri"/>
                <a:sym typeface="Calibri"/>
              </a:rPr>
              <a:t> significa cada </a:t>
            </a:r>
            <a:r>
              <a:rPr b="1" lang="en-US" sz="1300">
                <a:solidFill>
                  <a:srgbClr val="0D1F3C"/>
                </a:solidFill>
                <a:latin typeface="Calibri"/>
                <a:ea typeface="Calibri"/>
                <a:cs typeface="Calibri"/>
                <a:sym typeface="Calibri"/>
              </a:rPr>
              <a:t>métrica</a:t>
            </a:r>
            <a:r>
              <a:rPr b="1" lang="en-US" sz="1300">
                <a:solidFill>
                  <a:srgbClr val="0D1F3C"/>
                </a:solidFill>
                <a:latin typeface="Calibri"/>
                <a:ea typeface="Calibri"/>
                <a:cs typeface="Calibri"/>
                <a:sym typeface="Calibri"/>
              </a:rPr>
              <a:t>?</a:t>
            </a:r>
            <a:endParaRPr sz="1300">
              <a:solidFill>
                <a:schemeClr val="dk1"/>
              </a:solidFill>
              <a:latin typeface="Calibri"/>
              <a:ea typeface="Calibri"/>
              <a:cs typeface="Calibri"/>
              <a:sym typeface="Calibri"/>
            </a:endParaRPr>
          </a:p>
        </p:txBody>
      </p:sp>
      <p:sp>
        <p:nvSpPr>
          <p:cNvPr id="152" name="Google Shape;152;p6"/>
          <p:cNvSpPr/>
          <p:nvPr/>
        </p:nvSpPr>
        <p:spPr>
          <a:xfrm>
            <a:off x="274320" y="3291840"/>
            <a:ext cx="54864" cy="438912"/>
          </a:xfrm>
          <a:prstGeom prst="rect">
            <a:avLst/>
          </a:prstGeom>
          <a:solidFill>
            <a:srgbClr val="028090"/>
          </a:solidFill>
          <a:ln cap="flat" cmpd="sng" w="12700">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3" name="Google Shape;153;p6"/>
          <p:cNvSpPr/>
          <p:nvPr/>
        </p:nvSpPr>
        <p:spPr>
          <a:xfrm>
            <a:off x="438912" y="3291840"/>
            <a:ext cx="22860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1000"/>
              <a:buFont typeface="Calibri"/>
              <a:buNone/>
            </a:pPr>
            <a:r>
              <a:rPr b="1" lang="en-US" sz="1000">
                <a:solidFill>
                  <a:srgbClr val="0D1F3C"/>
                </a:solidFill>
                <a:latin typeface="Calibri"/>
                <a:ea typeface="Calibri"/>
                <a:cs typeface="Calibri"/>
                <a:sym typeface="Calibri"/>
              </a:rPr>
              <a:t>ROC-AUC (0.807)</a:t>
            </a:r>
            <a:endParaRPr sz="1000">
              <a:solidFill>
                <a:schemeClr val="dk1"/>
              </a:solidFill>
              <a:latin typeface="Calibri"/>
              <a:ea typeface="Calibri"/>
              <a:cs typeface="Calibri"/>
              <a:sym typeface="Calibri"/>
            </a:endParaRPr>
          </a:p>
        </p:txBody>
      </p:sp>
      <p:sp>
        <p:nvSpPr>
          <p:cNvPr id="154" name="Google Shape;154;p6"/>
          <p:cNvSpPr/>
          <p:nvPr/>
        </p:nvSpPr>
        <p:spPr>
          <a:xfrm>
            <a:off x="438912" y="3493008"/>
            <a:ext cx="84124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50"/>
              <a:buFont typeface="Calibri"/>
              <a:buNone/>
            </a:pPr>
            <a:r>
              <a:rPr lang="en-US" sz="950">
                <a:solidFill>
                  <a:srgbClr val="64748B"/>
                </a:solidFill>
                <a:latin typeface="Calibri"/>
                <a:ea typeface="Calibri"/>
                <a:cs typeface="Calibri"/>
                <a:sym typeface="Calibri"/>
              </a:rPr>
              <a:t>Mide que tan bien el modelo distingue a los pacientes con ACV de los que no lo </a:t>
            </a:r>
            <a:r>
              <a:rPr lang="en-US" sz="950">
                <a:solidFill>
                  <a:srgbClr val="64748B"/>
                </a:solidFill>
                <a:latin typeface="Calibri"/>
                <a:ea typeface="Calibri"/>
                <a:cs typeface="Calibri"/>
                <a:sym typeface="Calibri"/>
              </a:rPr>
              <a:t>tendrán</a:t>
            </a:r>
            <a:r>
              <a:rPr lang="en-US" sz="950">
                <a:solidFill>
                  <a:srgbClr val="64748B"/>
                </a:solidFill>
                <a:latin typeface="Calibri"/>
                <a:ea typeface="Calibri"/>
                <a:cs typeface="Calibri"/>
                <a:sym typeface="Calibri"/>
              </a:rPr>
              <a:t>. Un valor de 0.807 significa que en el 80.7% de los casos el modelo le asigna mayor riesgo al paciente que realmente </a:t>
            </a:r>
            <a:r>
              <a:rPr lang="en-US" sz="950">
                <a:solidFill>
                  <a:srgbClr val="64748B"/>
                </a:solidFill>
                <a:latin typeface="Calibri"/>
                <a:ea typeface="Calibri"/>
                <a:cs typeface="Calibri"/>
                <a:sym typeface="Calibri"/>
              </a:rPr>
              <a:t>tendrá</a:t>
            </a:r>
            <a:r>
              <a:rPr lang="en-US" sz="950">
                <a:solidFill>
                  <a:srgbClr val="64748B"/>
                </a:solidFill>
                <a:latin typeface="Calibri"/>
                <a:ea typeface="Calibri"/>
                <a:cs typeface="Calibri"/>
                <a:sym typeface="Calibri"/>
              </a:rPr>
              <a:t> el ACV. Es como acertar en 8 de cada 10 comparaciones.</a:t>
            </a:r>
            <a:endParaRPr sz="950">
              <a:solidFill>
                <a:schemeClr val="dk1"/>
              </a:solidFill>
              <a:latin typeface="Calibri"/>
              <a:ea typeface="Calibri"/>
              <a:cs typeface="Calibri"/>
              <a:sym typeface="Calibri"/>
            </a:endParaRPr>
          </a:p>
        </p:txBody>
      </p:sp>
      <p:sp>
        <p:nvSpPr>
          <p:cNvPr id="155" name="Google Shape;155;p6"/>
          <p:cNvSpPr/>
          <p:nvPr/>
        </p:nvSpPr>
        <p:spPr>
          <a:xfrm>
            <a:off x="274320" y="3840480"/>
            <a:ext cx="54864" cy="438912"/>
          </a:xfrm>
          <a:prstGeom prst="rect">
            <a:avLst/>
          </a:prstGeom>
          <a:solidFill>
            <a:srgbClr val="028090"/>
          </a:solidFill>
          <a:ln cap="flat" cmpd="sng" w="12700">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6" name="Google Shape;156;p6"/>
          <p:cNvSpPr/>
          <p:nvPr/>
        </p:nvSpPr>
        <p:spPr>
          <a:xfrm>
            <a:off x="438912" y="3840480"/>
            <a:ext cx="22860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1000"/>
              <a:buFont typeface="Calibri"/>
              <a:buNone/>
            </a:pPr>
            <a:r>
              <a:rPr b="1" lang="en-US" sz="1000">
                <a:solidFill>
                  <a:srgbClr val="0D1F3C"/>
                </a:solidFill>
                <a:latin typeface="Calibri"/>
                <a:ea typeface="Calibri"/>
                <a:cs typeface="Calibri"/>
                <a:sym typeface="Calibri"/>
              </a:rPr>
              <a:t>Recall del 63%</a:t>
            </a:r>
            <a:endParaRPr sz="1000">
              <a:solidFill>
                <a:schemeClr val="dk1"/>
              </a:solidFill>
              <a:latin typeface="Calibri"/>
              <a:ea typeface="Calibri"/>
              <a:cs typeface="Calibri"/>
              <a:sym typeface="Calibri"/>
            </a:endParaRPr>
          </a:p>
        </p:txBody>
      </p:sp>
      <p:sp>
        <p:nvSpPr>
          <p:cNvPr id="157" name="Google Shape;157;p6"/>
          <p:cNvSpPr/>
          <p:nvPr/>
        </p:nvSpPr>
        <p:spPr>
          <a:xfrm>
            <a:off x="438912" y="4041648"/>
            <a:ext cx="84124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50"/>
              <a:buFont typeface="Calibri"/>
              <a:buNone/>
            </a:pPr>
            <a:r>
              <a:rPr lang="en-US" sz="950">
                <a:solidFill>
                  <a:srgbClr val="64748B"/>
                </a:solidFill>
                <a:latin typeface="Calibri"/>
                <a:ea typeface="Calibri"/>
                <a:cs typeface="Calibri"/>
                <a:sym typeface="Calibri"/>
              </a:rPr>
              <a:t>De cada 100 pacientes que realmente </a:t>
            </a:r>
            <a:r>
              <a:rPr lang="en-US" sz="950">
                <a:solidFill>
                  <a:srgbClr val="64748B"/>
                </a:solidFill>
                <a:latin typeface="Calibri"/>
                <a:ea typeface="Calibri"/>
                <a:cs typeface="Calibri"/>
                <a:sym typeface="Calibri"/>
              </a:rPr>
              <a:t>tendrán</a:t>
            </a:r>
            <a:r>
              <a:rPr lang="en-US" sz="950">
                <a:solidFill>
                  <a:srgbClr val="64748B"/>
                </a:solidFill>
                <a:latin typeface="Calibri"/>
                <a:ea typeface="Calibri"/>
                <a:cs typeface="Calibri"/>
                <a:sym typeface="Calibri"/>
              </a:rPr>
              <a:t> un ACV, el modelo identifica correctamente a 63. Esto es lo </a:t>
            </a:r>
            <a:r>
              <a:rPr lang="en-US" sz="950">
                <a:solidFill>
                  <a:srgbClr val="64748B"/>
                </a:solidFill>
                <a:latin typeface="Calibri"/>
                <a:ea typeface="Calibri"/>
                <a:cs typeface="Calibri"/>
                <a:sym typeface="Calibri"/>
              </a:rPr>
              <a:t>más</a:t>
            </a:r>
            <a:r>
              <a:rPr lang="en-US" sz="950">
                <a:solidFill>
                  <a:srgbClr val="64748B"/>
                </a:solidFill>
                <a:latin typeface="Calibri"/>
                <a:ea typeface="Calibri"/>
                <a:cs typeface="Calibri"/>
                <a:sym typeface="Calibri"/>
              </a:rPr>
              <a:t> importante en medicina: preferimos no dejar pasar un caso real de riesgo aunque a veces generemos falsas alarmas.</a:t>
            </a:r>
            <a:endParaRPr sz="950">
              <a:solidFill>
                <a:schemeClr val="dk1"/>
              </a:solidFill>
              <a:latin typeface="Calibri"/>
              <a:ea typeface="Calibri"/>
              <a:cs typeface="Calibri"/>
              <a:sym typeface="Calibri"/>
            </a:endParaRPr>
          </a:p>
        </p:txBody>
      </p:sp>
      <p:sp>
        <p:nvSpPr>
          <p:cNvPr id="158" name="Google Shape;158;p6"/>
          <p:cNvSpPr/>
          <p:nvPr/>
        </p:nvSpPr>
        <p:spPr>
          <a:xfrm>
            <a:off x="274320" y="4389120"/>
            <a:ext cx="54864" cy="438912"/>
          </a:xfrm>
          <a:prstGeom prst="rect">
            <a:avLst/>
          </a:prstGeom>
          <a:solidFill>
            <a:srgbClr val="028090"/>
          </a:solidFill>
          <a:ln cap="flat" cmpd="sng" w="12700">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9" name="Google Shape;159;p6"/>
          <p:cNvSpPr/>
          <p:nvPr/>
        </p:nvSpPr>
        <p:spPr>
          <a:xfrm>
            <a:off x="438912" y="4389120"/>
            <a:ext cx="228600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1000"/>
              <a:buFont typeface="Calibri"/>
              <a:buNone/>
            </a:pPr>
            <a:r>
              <a:rPr b="1" lang="en-US" sz="1000">
                <a:solidFill>
                  <a:srgbClr val="0D1F3C"/>
                </a:solidFill>
                <a:latin typeface="Calibri"/>
                <a:ea typeface="Calibri"/>
                <a:cs typeface="Calibri"/>
                <a:sym typeface="Calibri"/>
              </a:rPr>
              <a:t>Gap de </a:t>
            </a:r>
            <a:r>
              <a:rPr b="1" lang="en-US" sz="1000">
                <a:solidFill>
                  <a:srgbClr val="0D1F3C"/>
                </a:solidFill>
                <a:latin typeface="Calibri"/>
                <a:ea typeface="Calibri"/>
                <a:cs typeface="Calibri"/>
                <a:sym typeface="Calibri"/>
              </a:rPr>
              <a:t>sobre ajuste</a:t>
            </a:r>
            <a:r>
              <a:rPr b="1" lang="en-US" sz="1000">
                <a:solidFill>
                  <a:srgbClr val="0D1F3C"/>
                </a:solidFill>
                <a:latin typeface="Calibri"/>
                <a:ea typeface="Calibri"/>
                <a:cs typeface="Calibri"/>
                <a:sym typeface="Calibri"/>
              </a:rPr>
              <a:t> 2.5%</a:t>
            </a:r>
            <a:endParaRPr sz="1000">
              <a:solidFill>
                <a:schemeClr val="dk1"/>
              </a:solidFill>
              <a:latin typeface="Calibri"/>
              <a:ea typeface="Calibri"/>
              <a:cs typeface="Calibri"/>
              <a:sym typeface="Calibri"/>
            </a:endParaRPr>
          </a:p>
        </p:txBody>
      </p:sp>
      <p:sp>
        <p:nvSpPr>
          <p:cNvPr id="160" name="Google Shape;160;p6"/>
          <p:cNvSpPr/>
          <p:nvPr/>
        </p:nvSpPr>
        <p:spPr>
          <a:xfrm>
            <a:off x="438912" y="4590288"/>
            <a:ext cx="841248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50"/>
              <a:buFont typeface="Calibri"/>
              <a:buNone/>
            </a:pPr>
            <a:r>
              <a:rPr lang="en-US" sz="950">
                <a:solidFill>
                  <a:srgbClr val="64748B"/>
                </a:solidFill>
                <a:latin typeface="Calibri"/>
                <a:ea typeface="Calibri"/>
                <a:cs typeface="Calibri"/>
                <a:sym typeface="Calibri"/>
              </a:rPr>
              <a:t>El modelo aprende bien sin memorizar los datos de entrenamiento. Un gap de solo 2.5% (vs 9.5% del Random Forest) significa que funcionara igual de bien con pacientes nuevos que nunca ha visto.</a:t>
            </a:r>
            <a:endParaRPr sz="95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65" name="Shape 165"/>
        <p:cNvGrpSpPr/>
        <p:nvPr/>
      </p:nvGrpSpPr>
      <p:grpSpPr>
        <a:xfrm>
          <a:off x="0" y="0"/>
          <a:ext cx="0" cy="0"/>
          <a:chOff x="0" y="0"/>
          <a:chExt cx="0" cy="0"/>
        </a:xfrm>
      </p:grpSpPr>
      <p:sp>
        <p:nvSpPr>
          <p:cNvPr id="166" name="Google Shape;166;p7"/>
          <p:cNvSpPr/>
          <p:nvPr/>
        </p:nvSpPr>
        <p:spPr>
          <a:xfrm>
            <a:off x="0" y="0"/>
            <a:ext cx="9144000" cy="822960"/>
          </a:xfrm>
          <a:prstGeom prst="rect">
            <a:avLst/>
          </a:prstGeom>
          <a:solidFill>
            <a:srgbClr val="0D1F3C"/>
          </a:solidFill>
          <a:ln cap="flat" cmpd="sng" w="12700">
            <a:solidFill>
              <a:srgbClr val="0D1F3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7" name="Google Shape;167;p7"/>
          <p:cNvSpPr/>
          <p:nvPr/>
        </p:nvSpPr>
        <p:spPr>
          <a:xfrm>
            <a:off x="365760" y="0"/>
            <a:ext cx="82296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lang="en-US" sz="2200">
                <a:solidFill>
                  <a:srgbClr val="FFFFFF"/>
                </a:solidFill>
                <a:latin typeface="Calibri"/>
                <a:ea typeface="Calibri"/>
                <a:cs typeface="Calibri"/>
                <a:sym typeface="Calibri"/>
              </a:rPr>
              <a:t>¿</a:t>
            </a:r>
            <a:r>
              <a:rPr b="1" lang="en-US" sz="2200">
                <a:solidFill>
                  <a:srgbClr val="FFFFFF"/>
                </a:solidFill>
                <a:latin typeface="Calibri"/>
                <a:ea typeface="Calibri"/>
                <a:cs typeface="Calibri"/>
                <a:sym typeface="Calibri"/>
              </a:rPr>
              <a:t>QUÉ</a:t>
            </a:r>
            <a:r>
              <a:rPr b="1" lang="en-US" sz="2200">
                <a:solidFill>
                  <a:srgbClr val="FFFFFF"/>
                </a:solidFill>
                <a:latin typeface="Calibri"/>
                <a:ea typeface="Calibri"/>
                <a:cs typeface="Calibri"/>
                <a:sym typeface="Calibri"/>
              </a:rPr>
              <a:t> FACTORES INFLUYEN </a:t>
            </a:r>
            <a:r>
              <a:rPr b="1" lang="en-US" sz="2200">
                <a:solidFill>
                  <a:srgbClr val="FFFFFF"/>
                </a:solidFill>
                <a:latin typeface="Calibri"/>
                <a:ea typeface="Calibri"/>
                <a:cs typeface="Calibri"/>
                <a:sym typeface="Calibri"/>
              </a:rPr>
              <a:t>MÁS</a:t>
            </a:r>
            <a:r>
              <a:rPr b="1" lang="en-US" sz="2200">
                <a:solidFill>
                  <a:srgbClr val="FFFFFF"/>
                </a:solidFill>
                <a:latin typeface="Calibri"/>
                <a:ea typeface="Calibri"/>
                <a:cs typeface="Calibri"/>
                <a:sym typeface="Calibri"/>
              </a:rPr>
              <a:t> EN EL RIESGO?</a:t>
            </a:r>
            <a:endParaRPr sz="2200">
              <a:solidFill>
                <a:schemeClr val="dk1"/>
              </a:solidFill>
              <a:latin typeface="Calibri"/>
              <a:ea typeface="Calibri"/>
              <a:cs typeface="Calibri"/>
              <a:sym typeface="Calibri"/>
            </a:endParaRPr>
          </a:p>
        </p:txBody>
      </p:sp>
      <p:graphicFrame>
        <p:nvGraphicFramePr>
          <p:cNvPr id="168" name="Google Shape;168;p7"/>
          <p:cNvGraphicFramePr/>
          <p:nvPr/>
        </p:nvGraphicFramePr>
        <p:xfrm>
          <a:off x="274320" y="914400"/>
          <a:ext cx="5029200" cy="3931920"/>
        </p:xfrm>
        <a:graphic>
          <a:graphicData uri="http://schemas.openxmlformats.org/drawingml/2006/chart">
            <c:chart r:id="rId3"/>
          </a:graphicData>
        </a:graphic>
      </p:graphicFrame>
      <p:sp>
        <p:nvSpPr>
          <p:cNvPr id="169" name="Google Shape;169;p7"/>
          <p:cNvSpPr/>
          <p:nvPr/>
        </p:nvSpPr>
        <p:spPr>
          <a:xfrm>
            <a:off x="5577840" y="960120"/>
            <a:ext cx="3383280" cy="713232"/>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 name="Google Shape;170;p7"/>
          <p:cNvSpPr/>
          <p:nvPr/>
        </p:nvSpPr>
        <p:spPr>
          <a:xfrm>
            <a:off x="5577840" y="960120"/>
            <a:ext cx="502920" cy="713232"/>
          </a:xfrm>
          <a:prstGeom prst="rect">
            <a:avLst/>
          </a:prstGeom>
          <a:solidFill>
            <a:srgbClr val="0D1F3C"/>
          </a:solidFill>
          <a:ln cap="flat" cmpd="sng" w="12700">
            <a:solidFill>
              <a:srgbClr val="0D1F3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 name="Google Shape;171;p7"/>
          <p:cNvSpPr/>
          <p:nvPr/>
        </p:nvSpPr>
        <p:spPr>
          <a:xfrm>
            <a:off x="5577840" y="960120"/>
            <a:ext cx="502920" cy="7132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2C39A"/>
              </a:buClr>
              <a:buSzPts val="1100"/>
              <a:buFont typeface="Calibri"/>
              <a:buNone/>
            </a:pPr>
            <a:r>
              <a:rPr b="1" lang="en-US" sz="1100">
                <a:solidFill>
                  <a:srgbClr val="02C39A"/>
                </a:solidFill>
                <a:latin typeface="Calibri"/>
                <a:ea typeface="Calibri"/>
                <a:cs typeface="Calibri"/>
                <a:sym typeface="Calibri"/>
              </a:rPr>
              <a:t>31%</a:t>
            </a:r>
            <a:endParaRPr sz="1100">
              <a:solidFill>
                <a:schemeClr val="dk1"/>
              </a:solidFill>
              <a:latin typeface="Calibri"/>
              <a:ea typeface="Calibri"/>
              <a:cs typeface="Calibri"/>
              <a:sym typeface="Calibri"/>
            </a:endParaRPr>
          </a:p>
        </p:txBody>
      </p:sp>
      <p:sp>
        <p:nvSpPr>
          <p:cNvPr id="172" name="Google Shape;172;p7"/>
          <p:cNvSpPr/>
          <p:nvPr/>
        </p:nvSpPr>
        <p:spPr>
          <a:xfrm>
            <a:off x="6172200" y="1005840"/>
            <a:ext cx="26517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1100"/>
              <a:buFont typeface="Calibri"/>
              <a:buNone/>
            </a:pPr>
            <a:r>
              <a:rPr b="1" lang="en-US" sz="1100">
                <a:solidFill>
                  <a:srgbClr val="0D1F3C"/>
                </a:solidFill>
                <a:latin typeface="Calibri"/>
                <a:ea typeface="Calibri"/>
                <a:cs typeface="Calibri"/>
                <a:sym typeface="Calibri"/>
              </a:rPr>
              <a:t>Edad</a:t>
            </a:r>
            <a:endParaRPr sz="1100">
              <a:solidFill>
                <a:schemeClr val="dk1"/>
              </a:solidFill>
              <a:latin typeface="Calibri"/>
              <a:ea typeface="Calibri"/>
              <a:cs typeface="Calibri"/>
              <a:sym typeface="Calibri"/>
            </a:endParaRPr>
          </a:p>
        </p:txBody>
      </p:sp>
      <p:sp>
        <p:nvSpPr>
          <p:cNvPr id="173" name="Google Shape;173;p7"/>
          <p:cNvSpPr/>
          <p:nvPr/>
        </p:nvSpPr>
        <p:spPr>
          <a:xfrm>
            <a:off x="6172200" y="1280160"/>
            <a:ext cx="265176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No modificable — El factor mas determinante. A mayor edad, mayor riesgo acumulado.</a:t>
            </a:r>
            <a:endParaRPr sz="900">
              <a:solidFill>
                <a:schemeClr val="dk1"/>
              </a:solidFill>
              <a:latin typeface="Calibri"/>
              <a:ea typeface="Calibri"/>
              <a:cs typeface="Calibri"/>
              <a:sym typeface="Calibri"/>
            </a:endParaRPr>
          </a:p>
        </p:txBody>
      </p:sp>
      <p:sp>
        <p:nvSpPr>
          <p:cNvPr id="174" name="Google Shape;174;p7"/>
          <p:cNvSpPr/>
          <p:nvPr/>
        </p:nvSpPr>
        <p:spPr>
          <a:xfrm>
            <a:off x="5577840" y="1755648"/>
            <a:ext cx="3383280" cy="713232"/>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 name="Google Shape;175;p7"/>
          <p:cNvSpPr/>
          <p:nvPr/>
        </p:nvSpPr>
        <p:spPr>
          <a:xfrm>
            <a:off x="5577840" y="1755648"/>
            <a:ext cx="502920" cy="713232"/>
          </a:xfrm>
          <a:prstGeom prst="rect">
            <a:avLst/>
          </a:prstGeom>
          <a:solidFill>
            <a:srgbClr val="0D1F3C"/>
          </a:solidFill>
          <a:ln cap="flat" cmpd="sng" w="12700">
            <a:solidFill>
              <a:srgbClr val="0D1F3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6" name="Google Shape;176;p7"/>
          <p:cNvSpPr/>
          <p:nvPr/>
        </p:nvSpPr>
        <p:spPr>
          <a:xfrm>
            <a:off x="5577840" y="1755648"/>
            <a:ext cx="502920" cy="7132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2C39A"/>
              </a:buClr>
              <a:buSzPts val="1100"/>
              <a:buFont typeface="Calibri"/>
              <a:buNone/>
            </a:pPr>
            <a:r>
              <a:rPr b="1" lang="en-US" sz="1100">
                <a:solidFill>
                  <a:srgbClr val="02C39A"/>
                </a:solidFill>
                <a:latin typeface="Calibri"/>
                <a:ea typeface="Calibri"/>
                <a:cs typeface="Calibri"/>
                <a:sym typeface="Calibri"/>
              </a:rPr>
              <a:t>22%</a:t>
            </a:r>
            <a:endParaRPr sz="1100">
              <a:solidFill>
                <a:schemeClr val="dk1"/>
              </a:solidFill>
              <a:latin typeface="Calibri"/>
              <a:ea typeface="Calibri"/>
              <a:cs typeface="Calibri"/>
              <a:sym typeface="Calibri"/>
            </a:endParaRPr>
          </a:p>
        </p:txBody>
      </p:sp>
      <p:sp>
        <p:nvSpPr>
          <p:cNvPr id="177" name="Google Shape;177;p7"/>
          <p:cNvSpPr/>
          <p:nvPr/>
        </p:nvSpPr>
        <p:spPr>
          <a:xfrm>
            <a:off x="6172200" y="1801368"/>
            <a:ext cx="26517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1100"/>
              <a:buFont typeface="Calibri"/>
              <a:buNone/>
            </a:pPr>
            <a:r>
              <a:rPr b="1" lang="en-US" sz="1100">
                <a:solidFill>
                  <a:srgbClr val="0D1F3C"/>
                </a:solidFill>
                <a:latin typeface="Calibri"/>
                <a:ea typeface="Calibri"/>
                <a:cs typeface="Calibri"/>
                <a:sym typeface="Calibri"/>
              </a:rPr>
              <a:t>Glucosa</a:t>
            </a:r>
            <a:endParaRPr sz="1100">
              <a:solidFill>
                <a:schemeClr val="dk1"/>
              </a:solidFill>
              <a:latin typeface="Calibri"/>
              <a:ea typeface="Calibri"/>
              <a:cs typeface="Calibri"/>
              <a:sym typeface="Calibri"/>
            </a:endParaRPr>
          </a:p>
        </p:txBody>
      </p:sp>
      <p:sp>
        <p:nvSpPr>
          <p:cNvPr id="178" name="Google Shape;178;p7"/>
          <p:cNvSpPr/>
          <p:nvPr/>
        </p:nvSpPr>
        <p:spPr>
          <a:xfrm>
            <a:off x="6172200" y="2075688"/>
            <a:ext cx="265176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Modificable — Control con dieta y </a:t>
            </a:r>
            <a:r>
              <a:rPr lang="en-US" sz="900">
                <a:solidFill>
                  <a:srgbClr val="64748B"/>
                </a:solidFill>
                <a:latin typeface="Calibri"/>
                <a:ea typeface="Calibri"/>
                <a:cs typeface="Calibri"/>
                <a:sym typeface="Calibri"/>
              </a:rPr>
              <a:t>medicación</a:t>
            </a:r>
            <a:r>
              <a:rPr lang="en-US" sz="900">
                <a:solidFill>
                  <a:srgbClr val="64748B"/>
                </a:solidFill>
                <a:latin typeface="Calibri"/>
                <a:ea typeface="Calibri"/>
                <a:cs typeface="Calibri"/>
                <a:sym typeface="Calibri"/>
              </a:rPr>
              <a:t>. </a:t>
            </a:r>
            <a:r>
              <a:rPr lang="en-US" sz="900">
                <a:solidFill>
                  <a:srgbClr val="64748B"/>
                </a:solidFill>
                <a:latin typeface="Calibri"/>
                <a:ea typeface="Calibri"/>
                <a:cs typeface="Calibri"/>
                <a:sym typeface="Calibri"/>
              </a:rPr>
              <a:t>Intervención</a:t>
            </a:r>
            <a:r>
              <a:rPr lang="en-US" sz="900">
                <a:solidFill>
                  <a:srgbClr val="64748B"/>
                </a:solidFill>
                <a:latin typeface="Calibri"/>
                <a:ea typeface="Calibri"/>
                <a:cs typeface="Calibri"/>
                <a:sym typeface="Calibri"/>
              </a:rPr>
              <a:t> directa posible.</a:t>
            </a:r>
            <a:endParaRPr sz="900">
              <a:solidFill>
                <a:schemeClr val="dk1"/>
              </a:solidFill>
              <a:latin typeface="Calibri"/>
              <a:ea typeface="Calibri"/>
              <a:cs typeface="Calibri"/>
              <a:sym typeface="Calibri"/>
            </a:endParaRPr>
          </a:p>
        </p:txBody>
      </p:sp>
      <p:sp>
        <p:nvSpPr>
          <p:cNvPr id="179" name="Google Shape;179;p7"/>
          <p:cNvSpPr/>
          <p:nvPr/>
        </p:nvSpPr>
        <p:spPr>
          <a:xfrm>
            <a:off x="5577840" y="2551176"/>
            <a:ext cx="3383280" cy="713232"/>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0" name="Google Shape;180;p7"/>
          <p:cNvSpPr/>
          <p:nvPr/>
        </p:nvSpPr>
        <p:spPr>
          <a:xfrm>
            <a:off x="5577840" y="2551176"/>
            <a:ext cx="502920" cy="713232"/>
          </a:xfrm>
          <a:prstGeom prst="rect">
            <a:avLst/>
          </a:prstGeom>
          <a:solidFill>
            <a:srgbClr val="0D1F3C"/>
          </a:solidFill>
          <a:ln cap="flat" cmpd="sng" w="12700">
            <a:solidFill>
              <a:srgbClr val="0D1F3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 name="Google Shape;181;p7"/>
          <p:cNvSpPr/>
          <p:nvPr/>
        </p:nvSpPr>
        <p:spPr>
          <a:xfrm>
            <a:off x="5577840" y="2551176"/>
            <a:ext cx="502920" cy="7132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2C39A"/>
              </a:buClr>
              <a:buSzPts val="1100"/>
              <a:buFont typeface="Calibri"/>
              <a:buNone/>
            </a:pPr>
            <a:r>
              <a:rPr b="1" lang="en-US" sz="1100">
                <a:solidFill>
                  <a:srgbClr val="02C39A"/>
                </a:solidFill>
                <a:latin typeface="Calibri"/>
                <a:ea typeface="Calibri"/>
                <a:cs typeface="Calibri"/>
                <a:sym typeface="Calibri"/>
              </a:rPr>
              <a:t>12%</a:t>
            </a:r>
            <a:endParaRPr sz="1100">
              <a:solidFill>
                <a:schemeClr val="dk1"/>
              </a:solidFill>
              <a:latin typeface="Calibri"/>
              <a:ea typeface="Calibri"/>
              <a:cs typeface="Calibri"/>
              <a:sym typeface="Calibri"/>
            </a:endParaRPr>
          </a:p>
        </p:txBody>
      </p:sp>
      <p:sp>
        <p:nvSpPr>
          <p:cNvPr id="182" name="Google Shape;182;p7"/>
          <p:cNvSpPr/>
          <p:nvPr/>
        </p:nvSpPr>
        <p:spPr>
          <a:xfrm>
            <a:off x="6172200" y="2596896"/>
            <a:ext cx="26517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1100"/>
              <a:buFont typeface="Calibri"/>
              <a:buNone/>
            </a:pPr>
            <a:r>
              <a:rPr b="1" lang="en-US" sz="1100">
                <a:solidFill>
                  <a:srgbClr val="0D1F3C"/>
                </a:solidFill>
                <a:latin typeface="Calibri"/>
                <a:ea typeface="Calibri"/>
                <a:cs typeface="Calibri"/>
                <a:sym typeface="Calibri"/>
              </a:rPr>
              <a:t>BMI faltante</a:t>
            </a:r>
            <a:endParaRPr sz="1100">
              <a:solidFill>
                <a:schemeClr val="dk1"/>
              </a:solidFill>
              <a:latin typeface="Calibri"/>
              <a:ea typeface="Calibri"/>
              <a:cs typeface="Calibri"/>
              <a:sym typeface="Calibri"/>
            </a:endParaRPr>
          </a:p>
        </p:txBody>
      </p:sp>
      <p:sp>
        <p:nvSpPr>
          <p:cNvPr id="183" name="Google Shape;183;p7"/>
          <p:cNvSpPr/>
          <p:nvPr/>
        </p:nvSpPr>
        <p:spPr>
          <a:xfrm>
            <a:off x="6172200" y="2871216"/>
            <a:ext cx="265176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Indicador — No tener el IMC registrado es en si misma una señal de alerta.</a:t>
            </a:r>
            <a:endParaRPr sz="900">
              <a:solidFill>
                <a:schemeClr val="dk1"/>
              </a:solidFill>
              <a:latin typeface="Calibri"/>
              <a:ea typeface="Calibri"/>
              <a:cs typeface="Calibri"/>
              <a:sym typeface="Calibri"/>
            </a:endParaRPr>
          </a:p>
        </p:txBody>
      </p:sp>
      <p:sp>
        <p:nvSpPr>
          <p:cNvPr id="184" name="Google Shape;184;p7"/>
          <p:cNvSpPr/>
          <p:nvPr/>
        </p:nvSpPr>
        <p:spPr>
          <a:xfrm>
            <a:off x="5577840" y="3346704"/>
            <a:ext cx="3383280" cy="713232"/>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 name="Google Shape;185;p7"/>
          <p:cNvSpPr/>
          <p:nvPr/>
        </p:nvSpPr>
        <p:spPr>
          <a:xfrm>
            <a:off x="5577840" y="3346704"/>
            <a:ext cx="502920" cy="713232"/>
          </a:xfrm>
          <a:prstGeom prst="rect">
            <a:avLst/>
          </a:prstGeom>
          <a:solidFill>
            <a:srgbClr val="0D1F3C"/>
          </a:solidFill>
          <a:ln cap="flat" cmpd="sng" w="12700">
            <a:solidFill>
              <a:srgbClr val="0D1F3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7"/>
          <p:cNvSpPr/>
          <p:nvPr/>
        </p:nvSpPr>
        <p:spPr>
          <a:xfrm>
            <a:off x="5577840" y="3346704"/>
            <a:ext cx="502920" cy="7132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2C39A"/>
              </a:buClr>
              <a:buSzPts val="1100"/>
              <a:buFont typeface="Calibri"/>
              <a:buNone/>
            </a:pPr>
            <a:r>
              <a:rPr b="1" lang="en-US" sz="1100">
                <a:solidFill>
                  <a:srgbClr val="02C39A"/>
                </a:solidFill>
                <a:latin typeface="Calibri"/>
                <a:ea typeface="Calibri"/>
                <a:cs typeface="Calibri"/>
                <a:sym typeface="Calibri"/>
              </a:rPr>
              <a:t>10%</a:t>
            </a:r>
            <a:endParaRPr sz="1100">
              <a:solidFill>
                <a:schemeClr val="dk1"/>
              </a:solidFill>
              <a:latin typeface="Calibri"/>
              <a:ea typeface="Calibri"/>
              <a:cs typeface="Calibri"/>
              <a:sym typeface="Calibri"/>
            </a:endParaRPr>
          </a:p>
        </p:txBody>
      </p:sp>
      <p:sp>
        <p:nvSpPr>
          <p:cNvPr id="187" name="Google Shape;187;p7"/>
          <p:cNvSpPr/>
          <p:nvPr/>
        </p:nvSpPr>
        <p:spPr>
          <a:xfrm>
            <a:off x="6172200" y="3392424"/>
            <a:ext cx="26517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1100"/>
              <a:buFont typeface="Calibri"/>
              <a:buNone/>
            </a:pPr>
            <a:r>
              <a:rPr b="1" lang="en-US" sz="1100">
                <a:solidFill>
                  <a:srgbClr val="0D1F3C"/>
                </a:solidFill>
                <a:latin typeface="Calibri"/>
                <a:ea typeface="Calibri"/>
                <a:cs typeface="Calibri"/>
                <a:sym typeface="Calibri"/>
              </a:rPr>
              <a:t>Enf. cardiaca</a:t>
            </a:r>
            <a:endParaRPr sz="1100">
              <a:solidFill>
                <a:schemeClr val="dk1"/>
              </a:solidFill>
              <a:latin typeface="Calibri"/>
              <a:ea typeface="Calibri"/>
              <a:cs typeface="Calibri"/>
              <a:sym typeface="Calibri"/>
            </a:endParaRPr>
          </a:p>
        </p:txBody>
      </p:sp>
      <p:sp>
        <p:nvSpPr>
          <p:cNvPr id="188" name="Google Shape;188;p7"/>
          <p:cNvSpPr/>
          <p:nvPr/>
        </p:nvSpPr>
        <p:spPr>
          <a:xfrm>
            <a:off x="6172200" y="3666744"/>
            <a:ext cx="265176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Modificable — </a:t>
            </a:r>
            <a:r>
              <a:rPr lang="en-US" sz="900">
                <a:solidFill>
                  <a:srgbClr val="64748B"/>
                </a:solidFill>
                <a:latin typeface="Calibri"/>
                <a:ea typeface="Calibri"/>
                <a:cs typeface="Calibri"/>
                <a:sym typeface="Calibri"/>
              </a:rPr>
              <a:t>Derivación</a:t>
            </a:r>
            <a:r>
              <a:rPr lang="en-US" sz="900">
                <a:solidFill>
                  <a:srgbClr val="64748B"/>
                </a:solidFill>
                <a:latin typeface="Calibri"/>
                <a:ea typeface="Calibri"/>
                <a:cs typeface="Calibri"/>
                <a:sym typeface="Calibri"/>
              </a:rPr>
              <a:t> a </a:t>
            </a:r>
            <a:r>
              <a:rPr lang="en-US" sz="900">
                <a:solidFill>
                  <a:srgbClr val="64748B"/>
                </a:solidFill>
                <a:latin typeface="Calibri"/>
                <a:ea typeface="Calibri"/>
                <a:cs typeface="Calibri"/>
                <a:sym typeface="Calibri"/>
              </a:rPr>
              <a:t>cardiología</a:t>
            </a:r>
            <a:r>
              <a:rPr lang="en-US" sz="900">
                <a:solidFill>
                  <a:srgbClr val="64748B"/>
                </a:solidFill>
                <a:latin typeface="Calibri"/>
                <a:ea typeface="Calibri"/>
                <a:cs typeface="Calibri"/>
                <a:sym typeface="Calibri"/>
              </a:rPr>
              <a:t> puede reducir el riesgo significativamente.</a:t>
            </a:r>
            <a:endParaRPr sz="900">
              <a:solidFill>
                <a:schemeClr val="dk1"/>
              </a:solidFill>
              <a:latin typeface="Calibri"/>
              <a:ea typeface="Calibri"/>
              <a:cs typeface="Calibri"/>
              <a:sym typeface="Calibri"/>
            </a:endParaRPr>
          </a:p>
        </p:txBody>
      </p:sp>
      <p:sp>
        <p:nvSpPr>
          <p:cNvPr id="189" name="Google Shape;189;p7"/>
          <p:cNvSpPr/>
          <p:nvPr/>
        </p:nvSpPr>
        <p:spPr>
          <a:xfrm>
            <a:off x="5577840" y="4142232"/>
            <a:ext cx="3383280" cy="713232"/>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7"/>
          <p:cNvSpPr/>
          <p:nvPr/>
        </p:nvSpPr>
        <p:spPr>
          <a:xfrm>
            <a:off x="5577840" y="4142232"/>
            <a:ext cx="502920" cy="713232"/>
          </a:xfrm>
          <a:prstGeom prst="rect">
            <a:avLst/>
          </a:prstGeom>
          <a:solidFill>
            <a:srgbClr val="0D1F3C"/>
          </a:solidFill>
          <a:ln cap="flat" cmpd="sng" w="12700">
            <a:solidFill>
              <a:srgbClr val="0D1F3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7"/>
          <p:cNvSpPr/>
          <p:nvPr/>
        </p:nvSpPr>
        <p:spPr>
          <a:xfrm>
            <a:off x="5577840" y="4142232"/>
            <a:ext cx="502920" cy="7132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2C39A"/>
              </a:buClr>
              <a:buSzPts val="1100"/>
              <a:buFont typeface="Calibri"/>
              <a:buNone/>
            </a:pPr>
            <a:r>
              <a:rPr b="1" lang="en-US" sz="1100">
                <a:solidFill>
                  <a:srgbClr val="02C39A"/>
                </a:solidFill>
                <a:latin typeface="Calibri"/>
                <a:ea typeface="Calibri"/>
                <a:cs typeface="Calibri"/>
                <a:sym typeface="Calibri"/>
              </a:rPr>
              <a:t>9%</a:t>
            </a:r>
            <a:endParaRPr sz="1100">
              <a:solidFill>
                <a:schemeClr val="dk1"/>
              </a:solidFill>
              <a:latin typeface="Calibri"/>
              <a:ea typeface="Calibri"/>
              <a:cs typeface="Calibri"/>
              <a:sym typeface="Calibri"/>
            </a:endParaRPr>
          </a:p>
        </p:txBody>
      </p:sp>
      <p:sp>
        <p:nvSpPr>
          <p:cNvPr id="192" name="Google Shape;192;p7"/>
          <p:cNvSpPr/>
          <p:nvPr/>
        </p:nvSpPr>
        <p:spPr>
          <a:xfrm>
            <a:off x="6172200" y="4187952"/>
            <a:ext cx="265176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1100"/>
              <a:buFont typeface="Calibri"/>
              <a:buNone/>
            </a:pPr>
            <a:r>
              <a:rPr b="1" lang="en-US" sz="1100">
                <a:solidFill>
                  <a:srgbClr val="0D1F3C"/>
                </a:solidFill>
                <a:latin typeface="Calibri"/>
                <a:ea typeface="Calibri"/>
                <a:cs typeface="Calibri"/>
                <a:sym typeface="Calibri"/>
              </a:rPr>
              <a:t>Hipertension</a:t>
            </a:r>
            <a:endParaRPr sz="1100">
              <a:solidFill>
                <a:schemeClr val="dk1"/>
              </a:solidFill>
              <a:latin typeface="Calibri"/>
              <a:ea typeface="Calibri"/>
              <a:cs typeface="Calibri"/>
              <a:sym typeface="Calibri"/>
            </a:endParaRPr>
          </a:p>
        </p:txBody>
      </p:sp>
      <p:sp>
        <p:nvSpPr>
          <p:cNvPr id="193" name="Google Shape;193;p7"/>
          <p:cNvSpPr/>
          <p:nvPr/>
        </p:nvSpPr>
        <p:spPr>
          <a:xfrm>
            <a:off x="6172200" y="4462272"/>
            <a:ext cx="265176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00"/>
              <a:buFont typeface="Calibri"/>
              <a:buNone/>
            </a:pPr>
            <a:r>
              <a:rPr lang="en-US" sz="900">
                <a:solidFill>
                  <a:srgbClr val="64748B"/>
                </a:solidFill>
                <a:latin typeface="Calibri"/>
                <a:ea typeface="Calibri"/>
                <a:cs typeface="Calibri"/>
                <a:sym typeface="Calibri"/>
              </a:rPr>
              <a:t>Modificable — </a:t>
            </a:r>
            <a:r>
              <a:rPr lang="en-US" sz="900">
                <a:solidFill>
                  <a:srgbClr val="64748B"/>
                </a:solidFill>
                <a:latin typeface="Calibri"/>
                <a:ea typeface="Calibri"/>
                <a:cs typeface="Calibri"/>
                <a:sym typeface="Calibri"/>
              </a:rPr>
              <a:t>Controlable</a:t>
            </a:r>
            <a:r>
              <a:rPr lang="en-US" sz="900">
                <a:solidFill>
                  <a:srgbClr val="64748B"/>
                </a:solidFill>
                <a:latin typeface="Calibri"/>
                <a:ea typeface="Calibri"/>
                <a:cs typeface="Calibri"/>
                <a:sym typeface="Calibri"/>
              </a:rPr>
              <a:t> con medicacion. Riesgo 2.5x mayor en hipertensos.</a:t>
            </a:r>
            <a:endParaRPr sz="9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198" name="Shape 198"/>
        <p:cNvGrpSpPr/>
        <p:nvPr/>
      </p:nvGrpSpPr>
      <p:grpSpPr>
        <a:xfrm>
          <a:off x="0" y="0"/>
          <a:ext cx="0" cy="0"/>
          <a:chOff x="0" y="0"/>
          <a:chExt cx="0" cy="0"/>
        </a:xfrm>
      </p:grpSpPr>
      <p:sp>
        <p:nvSpPr>
          <p:cNvPr id="199" name="Google Shape;199;p8"/>
          <p:cNvSpPr/>
          <p:nvPr/>
        </p:nvSpPr>
        <p:spPr>
          <a:xfrm>
            <a:off x="0" y="0"/>
            <a:ext cx="9144000" cy="822960"/>
          </a:xfrm>
          <a:prstGeom prst="rect">
            <a:avLst/>
          </a:prstGeom>
          <a:solidFill>
            <a:srgbClr val="0D1F3C"/>
          </a:solidFill>
          <a:ln cap="flat" cmpd="sng" w="12700">
            <a:solidFill>
              <a:srgbClr val="0D1F3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 name="Google Shape;200;p8"/>
          <p:cNvSpPr/>
          <p:nvPr/>
        </p:nvSpPr>
        <p:spPr>
          <a:xfrm>
            <a:off x="365760" y="0"/>
            <a:ext cx="8229600" cy="82296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2200">
                <a:solidFill>
                  <a:srgbClr val="FFFFFF"/>
                </a:solidFill>
                <a:latin typeface="Calibri"/>
                <a:ea typeface="Calibri"/>
                <a:cs typeface="Calibri"/>
                <a:sym typeface="Calibri"/>
              </a:rPr>
              <a:t>INTERPRETACIÓN</a:t>
            </a:r>
            <a:endParaRPr b="1" sz="2000">
              <a:solidFill>
                <a:srgbClr val="FFFFFF"/>
              </a:solidFill>
              <a:latin typeface="Calibri"/>
              <a:ea typeface="Calibri"/>
              <a:cs typeface="Calibri"/>
              <a:sym typeface="Calibri"/>
            </a:endParaRPr>
          </a:p>
        </p:txBody>
      </p:sp>
      <p:sp>
        <p:nvSpPr>
          <p:cNvPr id="201" name="Google Shape;201;p8"/>
          <p:cNvSpPr/>
          <p:nvPr/>
        </p:nvSpPr>
        <p:spPr>
          <a:xfrm>
            <a:off x="274320" y="896112"/>
            <a:ext cx="8595360" cy="36576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1300">
                <a:solidFill>
                  <a:srgbClr val="0D1F3C"/>
                </a:solidFill>
                <a:latin typeface="Calibri"/>
                <a:ea typeface="Calibri"/>
                <a:cs typeface="Calibri"/>
                <a:sym typeface="Calibri"/>
              </a:rPr>
              <a:t>Protocolo de priorización para el equipo médico:</a:t>
            </a:r>
            <a:endParaRPr sz="1100">
              <a:solidFill>
                <a:srgbClr val="334155"/>
              </a:solidFill>
              <a:latin typeface="Calibri"/>
              <a:ea typeface="Calibri"/>
              <a:cs typeface="Calibri"/>
              <a:sym typeface="Calibri"/>
            </a:endParaRPr>
          </a:p>
        </p:txBody>
      </p:sp>
      <p:sp>
        <p:nvSpPr>
          <p:cNvPr id="202" name="Google Shape;202;p8"/>
          <p:cNvSpPr/>
          <p:nvPr/>
        </p:nvSpPr>
        <p:spPr>
          <a:xfrm>
            <a:off x="274320" y="1371600"/>
            <a:ext cx="8595360" cy="1078992"/>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 name="Google Shape;203;p8"/>
          <p:cNvSpPr/>
          <p:nvPr/>
        </p:nvSpPr>
        <p:spPr>
          <a:xfrm>
            <a:off x="274320" y="1371600"/>
            <a:ext cx="1371600" cy="1078992"/>
          </a:xfrm>
          <a:prstGeom prst="rect">
            <a:avLst/>
          </a:prstGeom>
          <a:solidFill>
            <a:srgbClr val="C0392B"/>
          </a:solidFill>
          <a:ln cap="flat" cmpd="sng" w="12700">
            <a:solidFill>
              <a:srgbClr val="C039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 name="Google Shape;204;p8"/>
          <p:cNvSpPr/>
          <p:nvPr/>
        </p:nvSpPr>
        <p:spPr>
          <a:xfrm>
            <a:off x="274320" y="1371600"/>
            <a:ext cx="1371600" cy="107899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ALTO</a:t>
            </a:r>
            <a:endParaRPr sz="13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Mayor a 70%</a:t>
            </a:r>
            <a:endParaRPr sz="1300">
              <a:solidFill>
                <a:schemeClr val="dk1"/>
              </a:solidFill>
              <a:latin typeface="Calibri"/>
              <a:ea typeface="Calibri"/>
              <a:cs typeface="Calibri"/>
              <a:sym typeface="Calibri"/>
            </a:endParaRPr>
          </a:p>
        </p:txBody>
      </p:sp>
      <p:sp>
        <p:nvSpPr>
          <p:cNvPr id="205" name="Google Shape;205;p8"/>
          <p:cNvSpPr/>
          <p:nvPr/>
        </p:nvSpPr>
        <p:spPr>
          <a:xfrm>
            <a:off x="1783080" y="1408176"/>
            <a:ext cx="22402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900"/>
              <a:buFont typeface="Calibri"/>
              <a:buNone/>
            </a:pPr>
            <a:r>
              <a:rPr b="1" lang="en-US" sz="900">
                <a:solidFill>
                  <a:srgbClr val="0D1F3C"/>
                </a:solidFill>
                <a:latin typeface="Calibri"/>
                <a:ea typeface="Calibri"/>
                <a:cs typeface="Calibri"/>
                <a:sym typeface="Calibri"/>
              </a:rPr>
              <a:t>¿Qu</a:t>
            </a:r>
            <a:r>
              <a:rPr b="1" lang="en-US" sz="900">
                <a:solidFill>
                  <a:srgbClr val="0D1F3C"/>
                </a:solidFill>
                <a:latin typeface="Calibri"/>
                <a:ea typeface="Calibri"/>
                <a:cs typeface="Calibri"/>
                <a:sym typeface="Calibri"/>
              </a:rPr>
              <a:t>é</a:t>
            </a:r>
            <a:r>
              <a:rPr b="1" lang="en-US" sz="900">
                <a:solidFill>
                  <a:srgbClr val="0D1F3C"/>
                </a:solidFill>
                <a:latin typeface="Calibri"/>
                <a:ea typeface="Calibri"/>
                <a:cs typeface="Calibri"/>
                <a:sym typeface="Calibri"/>
              </a:rPr>
              <a:t> significa?</a:t>
            </a:r>
            <a:endParaRPr sz="900">
              <a:solidFill>
                <a:schemeClr val="dk1"/>
              </a:solidFill>
              <a:latin typeface="Calibri"/>
              <a:ea typeface="Calibri"/>
              <a:cs typeface="Calibri"/>
              <a:sym typeface="Calibri"/>
            </a:endParaRPr>
          </a:p>
        </p:txBody>
      </p:sp>
      <p:sp>
        <p:nvSpPr>
          <p:cNvPr id="206" name="Google Shape;206;p8"/>
          <p:cNvSpPr/>
          <p:nvPr/>
        </p:nvSpPr>
        <p:spPr>
          <a:xfrm>
            <a:off x="1783073" y="1591050"/>
            <a:ext cx="2925300" cy="7773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900">
                <a:solidFill>
                  <a:srgbClr val="334155"/>
                </a:solidFill>
                <a:latin typeface="Calibri"/>
                <a:ea typeface="Calibri"/>
                <a:cs typeface="Calibri"/>
                <a:sym typeface="Calibri"/>
              </a:rPr>
              <a:t>El paciente tiene varios factores de riesgo </a:t>
            </a:r>
            <a:r>
              <a:rPr lang="en-US" sz="900">
                <a:solidFill>
                  <a:srgbClr val="334155"/>
                </a:solidFill>
                <a:latin typeface="Calibri"/>
                <a:ea typeface="Calibri"/>
                <a:cs typeface="Calibri"/>
                <a:sym typeface="Calibri"/>
              </a:rPr>
              <a:t>críticos</a:t>
            </a:r>
            <a:r>
              <a:rPr lang="en-US" sz="900">
                <a:solidFill>
                  <a:srgbClr val="334155"/>
                </a:solidFill>
                <a:latin typeface="Calibri"/>
                <a:ea typeface="Calibri"/>
                <a:cs typeface="Calibri"/>
                <a:sym typeface="Calibri"/>
              </a:rPr>
              <a:t> al mismo tiempo..</a:t>
            </a:r>
            <a:endParaRPr sz="900">
              <a:solidFill>
                <a:srgbClr val="334155"/>
              </a:solidFill>
              <a:latin typeface="Calibri"/>
              <a:ea typeface="Calibri"/>
              <a:cs typeface="Calibri"/>
              <a:sym typeface="Calibri"/>
            </a:endParaRPr>
          </a:p>
        </p:txBody>
      </p:sp>
      <p:sp>
        <p:nvSpPr>
          <p:cNvPr id="207" name="Google Shape;207;p8"/>
          <p:cNvSpPr/>
          <p:nvPr/>
        </p:nvSpPr>
        <p:spPr>
          <a:xfrm>
            <a:off x="5277338" y="1408176"/>
            <a:ext cx="24231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900"/>
              <a:buFont typeface="Calibri"/>
              <a:buNone/>
            </a:pPr>
            <a:r>
              <a:rPr b="1" lang="en-US" sz="900">
                <a:solidFill>
                  <a:srgbClr val="0D1F3C"/>
                </a:solidFill>
                <a:latin typeface="Calibri"/>
                <a:ea typeface="Calibri"/>
                <a:cs typeface="Calibri"/>
                <a:sym typeface="Calibri"/>
              </a:rPr>
              <a:t>Acci</a:t>
            </a:r>
            <a:r>
              <a:rPr b="1" lang="en-US" sz="900">
                <a:solidFill>
                  <a:srgbClr val="0D1F3C"/>
                </a:solidFill>
                <a:latin typeface="Calibri"/>
                <a:ea typeface="Calibri"/>
                <a:cs typeface="Calibri"/>
                <a:sym typeface="Calibri"/>
              </a:rPr>
              <a:t>ó</a:t>
            </a:r>
            <a:r>
              <a:rPr b="1" lang="en-US" sz="900">
                <a:solidFill>
                  <a:srgbClr val="0D1F3C"/>
                </a:solidFill>
                <a:latin typeface="Calibri"/>
                <a:ea typeface="Calibri"/>
                <a:cs typeface="Calibri"/>
                <a:sym typeface="Calibri"/>
              </a:rPr>
              <a:t>n recomendada:</a:t>
            </a:r>
            <a:endParaRPr sz="900">
              <a:solidFill>
                <a:schemeClr val="dk1"/>
              </a:solidFill>
              <a:latin typeface="Calibri"/>
              <a:ea typeface="Calibri"/>
              <a:cs typeface="Calibri"/>
              <a:sym typeface="Calibri"/>
            </a:endParaRPr>
          </a:p>
        </p:txBody>
      </p:sp>
      <p:sp>
        <p:nvSpPr>
          <p:cNvPr id="208" name="Google Shape;208;p8"/>
          <p:cNvSpPr/>
          <p:nvPr/>
        </p:nvSpPr>
        <p:spPr>
          <a:xfrm>
            <a:off x="5277353" y="1591050"/>
            <a:ext cx="2925300" cy="7773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900">
                <a:solidFill>
                  <a:srgbClr val="334155"/>
                </a:solidFill>
                <a:latin typeface="Calibri"/>
                <a:ea typeface="Calibri"/>
                <a:cs typeface="Calibri"/>
                <a:sym typeface="Calibri"/>
              </a:rPr>
              <a:t>Hay que actuar de inmediato: inscribirlo en el programa preventivo, pedirle un </a:t>
            </a:r>
            <a:r>
              <a:rPr lang="en-US" sz="900">
                <a:solidFill>
                  <a:srgbClr val="334155"/>
                </a:solidFill>
                <a:latin typeface="Calibri"/>
                <a:ea typeface="Calibri"/>
                <a:cs typeface="Calibri"/>
                <a:sym typeface="Calibri"/>
              </a:rPr>
              <a:t>análisis</a:t>
            </a:r>
            <a:r>
              <a:rPr lang="en-US" sz="900">
                <a:solidFill>
                  <a:srgbClr val="334155"/>
                </a:solidFill>
                <a:latin typeface="Calibri"/>
                <a:ea typeface="Calibri"/>
                <a:cs typeface="Calibri"/>
                <a:sym typeface="Calibri"/>
              </a:rPr>
              <a:t> de glucosa completo y enviarlo con el </a:t>
            </a:r>
            <a:r>
              <a:rPr lang="en-US" sz="900">
                <a:solidFill>
                  <a:srgbClr val="334155"/>
                </a:solidFill>
                <a:latin typeface="Calibri"/>
                <a:ea typeface="Calibri"/>
                <a:cs typeface="Calibri"/>
                <a:sym typeface="Calibri"/>
              </a:rPr>
              <a:t>cardiólogo</a:t>
            </a:r>
            <a:r>
              <a:rPr lang="en-US" sz="900">
                <a:solidFill>
                  <a:srgbClr val="334155"/>
                </a:solidFill>
                <a:latin typeface="Calibri"/>
                <a:ea typeface="Calibri"/>
                <a:cs typeface="Calibri"/>
                <a:sym typeface="Calibri"/>
              </a:rPr>
              <a:t>.</a:t>
            </a:r>
            <a:endParaRPr sz="900">
              <a:solidFill>
                <a:srgbClr val="334155"/>
              </a:solidFill>
              <a:latin typeface="Calibri"/>
              <a:ea typeface="Calibri"/>
              <a:cs typeface="Calibri"/>
              <a:sym typeface="Calibri"/>
            </a:endParaRPr>
          </a:p>
        </p:txBody>
      </p:sp>
      <p:sp>
        <p:nvSpPr>
          <p:cNvPr id="209" name="Google Shape;209;p8"/>
          <p:cNvSpPr/>
          <p:nvPr/>
        </p:nvSpPr>
        <p:spPr>
          <a:xfrm>
            <a:off x="274320" y="2587752"/>
            <a:ext cx="8595360" cy="1078992"/>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 name="Google Shape;210;p8"/>
          <p:cNvSpPr/>
          <p:nvPr/>
        </p:nvSpPr>
        <p:spPr>
          <a:xfrm>
            <a:off x="274320" y="2587752"/>
            <a:ext cx="1371600" cy="1078992"/>
          </a:xfrm>
          <a:prstGeom prst="rect">
            <a:avLst/>
          </a:prstGeom>
          <a:solidFill>
            <a:srgbClr val="D4860A"/>
          </a:solidFill>
          <a:ln cap="flat" cmpd="sng" w="12700">
            <a:solidFill>
              <a:srgbClr val="D4860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 name="Google Shape;211;p8"/>
          <p:cNvSpPr/>
          <p:nvPr/>
        </p:nvSpPr>
        <p:spPr>
          <a:xfrm>
            <a:off x="274320" y="2587752"/>
            <a:ext cx="1371600" cy="107899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MODERADO</a:t>
            </a:r>
            <a:endParaRPr sz="13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Entre 40% y 70%</a:t>
            </a:r>
            <a:endParaRPr sz="1300">
              <a:solidFill>
                <a:schemeClr val="dk1"/>
              </a:solidFill>
              <a:latin typeface="Calibri"/>
              <a:ea typeface="Calibri"/>
              <a:cs typeface="Calibri"/>
              <a:sym typeface="Calibri"/>
            </a:endParaRPr>
          </a:p>
        </p:txBody>
      </p:sp>
      <p:sp>
        <p:nvSpPr>
          <p:cNvPr id="212" name="Google Shape;212;p8"/>
          <p:cNvSpPr/>
          <p:nvPr/>
        </p:nvSpPr>
        <p:spPr>
          <a:xfrm>
            <a:off x="1783080" y="2624328"/>
            <a:ext cx="22402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900"/>
              <a:buFont typeface="Calibri"/>
              <a:buNone/>
            </a:pPr>
            <a:r>
              <a:rPr b="1" lang="en-US" sz="900">
                <a:solidFill>
                  <a:srgbClr val="0D1F3C"/>
                </a:solidFill>
                <a:latin typeface="Calibri"/>
                <a:ea typeface="Calibri"/>
                <a:cs typeface="Calibri"/>
                <a:sym typeface="Calibri"/>
              </a:rPr>
              <a:t>¿Qu</a:t>
            </a:r>
            <a:r>
              <a:rPr b="1" lang="en-US" sz="900">
                <a:solidFill>
                  <a:srgbClr val="0D1F3C"/>
                </a:solidFill>
                <a:latin typeface="Calibri"/>
                <a:ea typeface="Calibri"/>
                <a:cs typeface="Calibri"/>
                <a:sym typeface="Calibri"/>
              </a:rPr>
              <a:t>é</a:t>
            </a:r>
            <a:r>
              <a:rPr b="1" lang="en-US" sz="900">
                <a:solidFill>
                  <a:srgbClr val="0D1F3C"/>
                </a:solidFill>
                <a:latin typeface="Calibri"/>
                <a:ea typeface="Calibri"/>
                <a:cs typeface="Calibri"/>
                <a:sym typeface="Calibri"/>
              </a:rPr>
              <a:t> significa?</a:t>
            </a:r>
            <a:endParaRPr sz="900">
              <a:solidFill>
                <a:schemeClr val="dk1"/>
              </a:solidFill>
              <a:latin typeface="Calibri"/>
              <a:ea typeface="Calibri"/>
              <a:cs typeface="Calibri"/>
              <a:sym typeface="Calibri"/>
            </a:endParaRPr>
          </a:p>
        </p:txBody>
      </p:sp>
      <p:sp>
        <p:nvSpPr>
          <p:cNvPr id="213" name="Google Shape;213;p8"/>
          <p:cNvSpPr/>
          <p:nvPr/>
        </p:nvSpPr>
        <p:spPr>
          <a:xfrm>
            <a:off x="1783073" y="2807200"/>
            <a:ext cx="2925300" cy="7773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900">
                <a:solidFill>
                  <a:srgbClr val="334155"/>
                </a:solidFill>
                <a:latin typeface="Calibri"/>
                <a:ea typeface="Calibri"/>
                <a:cs typeface="Calibri"/>
                <a:sym typeface="Calibri"/>
              </a:rPr>
              <a:t>El paciente tiene algunos factores de riesgo pero no todos en nivel </a:t>
            </a:r>
            <a:r>
              <a:rPr lang="en-US" sz="900">
                <a:solidFill>
                  <a:srgbClr val="334155"/>
                </a:solidFill>
                <a:latin typeface="Calibri"/>
                <a:ea typeface="Calibri"/>
                <a:cs typeface="Calibri"/>
                <a:sym typeface="Calibri"/>
              </a:rPr>
              <a:t>crítico</a:t>
            </a:r>
            <a:r>
              <a:rPr lang="en-US" sz="900">
                <a:solidFill>
                  <a:srgbClr val="334155"/>
                </a:solidFill>
                <a:latin typeface="Calibri"/>
                <a:ea typeface="Calibri"/>
                <a:cs typeface="Calibri"/>
                <a:sym typeface="Calibri"/>
              </a:rPr>
              <a:t>.</a:t>
            </a:r>
            <a:endParaRPr sz="900">
              <a:solidFill>
                <a:srgbClr val="334155"/>
              </a:solidFill>
              <a:latin typeface="Calibri"/>
              <a:ea typeface="Calibri"/>
              <a:cs typeface="Calibri"/>
              <a:sym typeface="Calibri"/>
            </a:endParaRPr>
          </a:p>
        </p:txBody>
      </p:sp>
      <p:sp>
        <p:nvSpPr>
          <p:cNvPr id="214" name="Google Shape;214;p8"/>
          <p:cNvSpPr/>
          <p:nvPr/>
        </p:nvSpPr>
        <p:spPr>
          <a:xfrm>
            <a:off x="5277338" y="2624328"/>
            <a:ext cx="24231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900"/>
              <a:buFont typeface="Calibri"/>
              <a:buNone/>
            </a:pPr>
            <a:r>
              <a:rPr b="1" lang="en-US" sz="900">
                <a:solidFill>
                  <a:srgbClr val="0D1F3C"/>
                </a:solidFill>
                <a:latin typeface="Calibri"/>
                <a:ea typeface="Calibri"/>
                <a:cs typeface="Calibri"/>
                <a:sym typeface="Calibri"/>
              </a:rPr>
              <a:t>Acci</a:t>
            </a:r>
            <a:r>
              <a:rPr b="1" lang="en-US" sz="900">
                <a:solidFill>
                  <a:srgbClr val="0D1F3C"/>
                </a:solidFill>
                <a:latin typeface="Calibri"/>
                <a:ea typeface="Calibri"/>
                <a:cs typeface="Calibri"/>
                <a:sym typeface="Calibri"/>
              </a:rPr>
              <a:t>ó</a:t>
            </a:r>
            <a:r>
              <a:rPr b="1" lang="en-US" sz="900">
                <a:solidFill>
                  <a:srgbClr val="0D1F3C"/>
                </a:solidFill>
                <a:latin typeface="Calibri"/>
                <a:ea typeface="Calibri"/>
                <a:cs typeface="Calibri"/>
                <a:sym typeface="Calibri"/>
              </a:rPr>
              <a:t>n recomendada:</a:t>
            </a:r>
            <a:endParaRPr sz="900">
              <a:solidFill>
                <a:schemeClr val="dk1"/>
              </a:solidFill>
              <a:latin typeface="Calibri"/>
              <a:ea typeface="Calibri"/>
              <a:cs typeface="Calibri"/>
              <a:sym typeface="Calibri"/>
            </a:endParaRPr>
          </a:p>
        </p:txBody>
      </p:sp>
      <p:sp>
        <p:nvSpPr>
          <p:cNvPr id="215" name="Google Shape;215;p8"/>
          <p:cNvSpPr/>
          <p:nvPr/>
        </p:nvSpPr>
        <p:spPr>
          <a:xfrm>
            <a:off x="5277353" y="2807200"/>
            <a:ext cx="2925300" cy="7773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900">
                <a:solidFill>
                  <a:srgbClr val="334155"/>
                </a:solidFill>
                <a:latin typeface="Calibri"/>
                <a:ea typeface="Calibri"/>
                <a:cs typeface="Calibri"/>
                <a:sym typeface="Calibri"/>
              </a:rPr>
              <a:t>No es urgente pero tampoco se puede ignorar: revisarlo en 30 dias, orientarlo en </a:t>
            </a:r>
            <a:r>
              <a:rPr lang="en-US" sz="900">
                <a:solidFill>
                  <a:srgbClr val="334155"/>
                </a:solidFill>
                <a:latin typeface="Calibri"/>
                <a:ea typeface="Calibri"/>
                <a:cs typeface="Calibri"/>
                <a:sym typeface="Calibri"/>
              </a:rPr>
              <a:t>alimentación</a:t>
            </a:r>
            <a:r>
              <a:rPr lang="en-US" sz="900">
                <a:solidFill>
                  <a:srgbClr val="334155"/>
                </a:solidFill>
                <a:latin typeface="Calibri"/>
                <a:ea typeface="Calibri"/>
                <a:cs typeface="Calibri"/>
                <a:sym typeface="Calibri"/>
              </a:rPr>
              <a:t> y vigilar su </a:t>
            </a:r>
            <a:r>
              <a:rPr lang="en-US" sz="900">
                <a:solidFill>
                  <a:srgbClr val="334155"/>
                </a:solidFill>
                <a:latin typeface="Calibri"/>
                <a:ea typeface="Calibri"/>
                <a:cs typeface="Calibri"/>
                <a:sym typeface="Calibri"/>
              </a:rPr>
              <a:t>presión</a:t>
            </a:r>
            <a:r>
              <a:rPr lang="en-US" sz="900">
                <a:solidFill>
                  <a:srgbClr val="334155"/>
                </a:solidFill>
                <a:latin typeface="Calibri"/>
                <a:ea typeface="Calibri"/>
                <a:cs typeface="Calibri"/>
                <a:sym typeface="Calibri"/>
              </a:rPr>
              <a:t> arterial.</a:t>
            </a:r>
            <a:endParaRPr sz="900">
              <a:solidFill>
                <a:srgbClr val="334155"/>
              </a:solidFill>
              <a:latin typeface="Calibri"/>
              <a:ea typeface="Calibri"/>
              <a:cs typeface="Calibri"/>
              <a:sym typeface="Calibri"/>
            </a:endParaRPr>
          </a:p>
        </p:txBody>
      </p:sp>
      <p:sp>
        <p:nvSpPr>
          <p:cNvPr id="216" name="Google Shape;216;p8"/>
          <p:cNvSpPr/>
          <p:nvPr/>
        </p:nvSpPr>
        <p:spPr>
          <a:xfrm>
            <a:off x="274320" y="3803904"/>
            <a:ext cx="8595360" cy="1078992"/>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8"/>
          <p:cNvSpPr/>
          <p:nvPr/>
        </p:nvSpPr>
        <p:spPr>
          <a:xfrm>
            <a:off x="274320" y="3803904"/>
            <a:ext cx="1371600" cy="1078992"/>
          </a:xfrm>
          <a:prstGeom prst="rect">
            <a:avLst/>
          </a:prstGeom>
          <a:solidFill>
            <a:srgbClr val="15803D"/>
          </a:solidFill>
          <a:ln cap="flat" cmpd="sng" w="12700">
            <a:solidFill>
              <a:srgbClr val="1580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8"/>
          <p:cNvSpPr/>
          <p:nvPr/>
        </p:nvSpPr>
        <p:spPr>
          <a:xfrm>
            <a:off x="274320" y="3803904"/>
            <a:ext cx="1371600" cy="107899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BAJO</a:t>
            </a:r>
            <a:endParaRPr sz="1300">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00"/>
              <a:buFont typeface="Calibri"/>
              <a:buNone/>
            </a:pPr>
            <a:r>
              <a:rPr lang="en-US" sz="900">
                <a:solidFill>
                  <a:srgbClr val="FFFFFF"/>
                </a:solidFill>
                <a:latin typeface="Calibri"/>
                <a:ea typeface="Calibri"/>
                <a:cs typeface="Calibri"/>
                <a:sym typeface="Calibri"/>
              </a:rPr>
              <a:t>Menor a 40%</a:t>
            </a:r>
            <a:endParaRPr sz="1300">
              <a:solidFill>
                <a:schemeClr val="dk1"/>
              </a:solidFill>
              <a:latin typeface="Calibri"/>
              <a:ea typeface="Calibri"/>
              <a:cs typeface="Calibri"/>
              <a:sym typeface="Calibri"/>
            </a:endParaRPr>
          </a:p>
        </p:txBody>
      </p:sp>
      <p:sp>
        <p:nvSpPr>
          <p:cNvPr id="219" name="Google Shape;219;p8"/>
          <p:cNvSpPr/>
          <p:nvPr/>
        </p:nvSpPr>
        <p:spPr>
          <a:xfrm>
            <a:off x="1783080" y="3840480"/>
            <a:ext cx="2240280" cy="2011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900"/>
              <a:buFont typeface="Calibri"/>
              <a:buNone/>
            </a:pPr>
            <a:r>
              <a:rPr b="1" lang="en-US" sz="900">
                <a:solidFill>
                  <a:srgbClr val="0D1F3C"/>
                </a:solidFill>
                <a:latin typeface="Calibri"/>
                <a:ea typeface="Calibri"/>
                <a:cs typeface="Calibri"/>
                <a:sym typeface="Calibri"/>
              </a:rPr>
              <a:t>¿Qu</a:t>
            </a:r>
            <a:r>
              <a:rPr b="1" lang="en-US" sz="900">
                <a:solidFill>
                  <a:srgbClr val="0D1F3C"/>
                </a:solidFill>
                <a:latin typeface="Calibri"/>
                <a:ea typeface="Calibri"/>
                <a:cs typeface="Calibri"/>
                <a:sym typeface="Calibri"/>
              </a:rPr>
              <a:t>é</a:t>
            </a:r>
            <a:r>
              <a:rPr b="1" lang="en-US" sz="900">
                <a:solidFill>
                  <a:srgbClr val="0D1F3C"/>
                </a:solidFill>
                <a:latin typeface="Calibri"/>
                <a:ea typeface="Calibri"/>
                <a:cs typeface="Calibri"/>
                <a:sym typeface="Calibri"/>
              </a:rPr>
              <a:t> significa?</a:t>
            </a:r>
            <a:endParaRPr sz="900">
              <a:solidFill>
                <a:schemeClr val="dk1"/>
              </a:solidFill>
              <a:latin typeface="Calibri"/>
              <a:ea typeface="Calibri"/>
              <a:cs typeface="Calibri"/>
              <a:sym typeface="Calibri"/>
            </a:endParaRPr>
          </a:p>
        </p:txBody>
      </p:sp>
      <p:sp>
        <p:nvSpPr>
          <p:cNvPr id="220" name="Google Shape;220;p8"/>
          <p:cNvSpPr/>
          <p:nvPr/>
        </p:nvSpPr>
        <p:spPr>
          <a:xfrm>
            <a:off x="1783073" y="4023350"/>
            <a:ext cx="2925300" cy="7773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900">
                <a:solidFill>
                  <a:srgbClr val="334155"/>
                </a:solidFill>
                <a:latin typeface="Calibri"/>
                <a:ea typeface="Calibri"/>
                <a:cs typeface="Calibri"/>
                <a:sym typeface="Calibri"/>
              </a:rPr>
              <a:t>El paciente no presenta combinaciones de factores que representen un peligro inmediato </a:t>
            </a:r>
            <a:r>
              <a:rPr lang="en-US" sz="900">
                <a:solidFill>
                  <a:srgbClr val="334155"/>
                </a:solidFill>
                <a:latin typeface="Calibri"/>
                <a:ea typeface="Calibri"/>
                <a:cs typeface="Calibri"/>
                <a:sym typeface="Calibri"/>
              </a:rPr>
              <a:t>según</a:t>
            </a:r>
            <a:r>
              <a:rPr lang="en-US" sz="900">
                <a:solidFill>
                  <a:srgbClr val="334155"/>
                </a:solidFill>
                <a:latin typeface="Calibri"/>
                <a:ea typeface="Calibri"/>
                <a:cs typeface="Calibri"/>
                <a:sym typeface="Calibri"/>
              </a:rPr>
              <a:t> sus datos actuales.</a:t>
            </a:r>
            <a:endParaRPr sz="900">
              <a:solidFill>
                <a:srgbClr val="334155"/>
              </a:solidFill>
              <a:latin typeface="Calibri"/>
              <a:ea typeface="Calibri"/>
              <a:cs typeface="Calibri"/>
              <a:sym typeface="Calibri"/>
            </a:endParaRPr>
          </a:p>
        </p:txBody>
      </p:sp>
      <p:sp>
        <p:nvSpPr>
          <p:cNvPr id="221" name="Google Shape;221;p8"/>
          <p:cNvSpPr/>
          <p:nvPr/>
        </p:nvSpPr>
        <p:spPr>
          <a:xfrm>
            <a:off x="5277338" y="3840480"/>
            <a:ext cx="2423100" cy="201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900"/>
              <a:buFont typeface="Calibri"/>
              <a:buNone/>
            </a:pPr>
            <a:r>
              <a:rPr b="1" lang="en-US" sz="900">
                <a:solidFill>
                  <a:srgbClr val="0D1F3C"/>
                </a:solidFill>
                <a:latin typeface="Calibri"/>
                <a:ea typeface="Calibri"/>
                <a:cs typeface="Calibri"/>
                <a:sym typeface="Calibri"/>
              </a:rPr>
              <a:t>Acci</a:t>
            </a:r>
            <a:r>
              <a:rPr b="1" lang="en-US" sz="900">
                <a:solidFill>
                  <a:srgbClr val="0D1F3C"/>
                </a:solidFill>
                <a:latin typeface="Calibri"/>
                <a:ea typeface="Calibri"/>
                <a:cs typeface="Calibri"/>
                <a:sym typeface="Calibri"/>
              </a:rPr>
              <a:t>ó</a:t>
            </a:r>
            <a:r>
              <a:rPr b="1" lang="en-US" sz="900">
                <a:solidFill>
                  <a:srgbClr val="0D1F3C"/>
                </a:solidFill>
                <a:latin typeface="Calibri"/>
                <a:ea typeface="Calibri"/>
                <a:cs typeface="Calibri"/>
                <a:sym typeface="Calibri"/>
              </a:rPr>
              <a:t>n recomendada:</a:t>
            </a:r>
            <a:endParaRPr sz="900">
              <a:solidFill>
                <a:schemeClr val="dk1"/>
              </a:solidFill>
              <a:latin typeface="Calibri"/>
              <a:ea typeface="Calibri"/>
              <a:cs typeface="Calibri"/>
              <a:sym typeface="Calibri"/>
            </a:endParaRPr>
          </a:p>
        </p:txBody>
      </p:sp>
      <p:sp>
        <p:nvSpPr>
          <p:cNvPr id="222" name="Google Shape;222;p8"/>
          <p:cNvSpPr/>
          <p:nvPr/>
        </p:nvSpPr>
        <p:spPr>
          <a:xfrm>
            <a:off x="5277353" y="4023350"/>
            <a:ext cx="2925300" cy="7773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900">
                <a:solidFill>
                  <a:srgbClr val="334155"/>
                </a:solidFill>
                <a:latin typeface="Calibri"/>
                <a:ea typeface="Calibri"/>
                <a:cs typeface="Calibri"/>
                <a:sym typeface="Calibri"/>
              </a:rPr>
              <a:t>Revision anual normal. Informarle sobre </a:t>
            </a:r>
            <a:r>
              <a:rPr lang="en-US" sz="900">
                <a:solidFill>
                  <a:srgbClr val="334155"/>
                </a:solidFill>
                <a:latin typeface="Calibri"/>
                <a:ea typeface="Calibri"/>
                <a:cs typeface="Calibri"/>
                <a:sym typeface="Calibri"/>
              </a:rPr>
              <a:t>hábitos</a:t>
            </a:r>
            <a:r>
              <a:rPr lang="en-US" sz="900">
                <a:solidFill>
                  <a:srgbClr val="334155"/>
                </a:solidFill>
                <a:latin typeface="Calibri"/>
                <a:ea typeface="Calibri"/>
                <a:cs typeface="Calibri"/>
                <a:sym typeface="Calibri"/>
              </a:rPr>
              <a:t> saludables: buena alimentacion, ejercicio y no fumar.</a:t>
            </a:r>
            <a:endParaRPr sz="900">
              <a:solidFill>
                <a:srgbClr val="334155"/>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27" name="Shape 227"/>
        <p:cNvGrpSpPr/>
        <p:nvPr/>
      </p:nvGrpSpPr>
      <p:grpSpPr>
        <a:xfrm>
          <a:off x="0" y="0"/>
          <a:ext cx="0" cy="0"/>
          <a:chOff x="0" y="0"/>
          <a:chExt cx="0" cy="0"/>
        </a:xfrm>
      </p:grpSpPr>
      <p:sp>
        <p:nvSpPr>
          <p:cNvPr id="228" name="Google Shape;228;p9"/>
          <p:cNvSpPr/>
          <p:nvPr/>
        </p:nvSpPr>
        <p:spPr>
          <a:xfrm>
            <a:off x="0" y="0"/>
            <a:ext cx="9144000" cy="822960"/>
          </a:xfrm>
          <a:prstGeom prst="rect">
            <a:avLst/>
          </a:prstGeom>
          <a:solidFill>
            <a:srgbClr val="0D1F3C"/>
          </a:solidFill>
          <a:ln cap="flat" cmpd="sng" w="12700">
            <a:solidFill>
              <a:srgbClr val="0D1F3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9" name="Google Shape;229;p9"/>
          <p:cNvSpPr/>
          <p:nvPr/>
        </p:nvSpPr>
        <p:spPr>
          <a:xfrm>
            <a:off x="365760" y="0"/>
            <a:ext cx="82296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lang="en-US" sz="2000">
                <a:solidFill>
                  <a:srgbClr val="FFFFFF"/>
                </a:solidFill>
                <a:latin typeface="Calibri"/>
                <a:ea typeface="Calibri"/>
                <a:cs typeface="Calibri"/>
                <a:sym typeface="Calibri"/>
              </a:rPr>
              <a:t>DASHBOARD — HERRAMIENTA PARA EL EQUIPO </a:t>
            </a:r>
            <a:r>
              <a:rPr b="1" lang="en-US" sz="2000">
                <a:solidFill>
                  <a:srgbClr val="FFFFFF"/>
                </a:solidFill>
                <a:latin typeface="Calibri"/>
                <a:ea typeface="Calibri"/>
                <a:cs typeface="Calibri"/>
                <a:sym typeface="Calibri"/>
              </a:rPr>
              <a:t>MÉDICO</a:t>
            </a:r>
            <a:endParaRPr sz="2000">
              <a:solidFill>
                <a:schemeClr val="dk1"/>
              </a:solidFill>
              <a:latin typeface="Calibri"/>
              <a:ea typeface="Calibri"/>
              <a:cs typeface="Calibri"/>
              <a:sym typeface="Calibri"/>
            </a:endParaRPr>
          </a:p>
        </p:txBody>
      </p:sp>
      <p:sp>
        <p:nvSpPr>
          <p:cNvPr id="230" name="Google Shape;230;p9"/>
          <p:cNvSpPr/>
          <p:nvPr/>
        </p:nvSpPr>
        <p:spPr>
          <a:xfrm>
            <a:off x="274320" y="896112"/>
            <a:ext cx="85953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34155"/>
              </a:buClr>
              <a:buSzPts val="1100"/>
              <a:buFont typeface="Calibri"/>
              <a:buNone/>
            </a:pPr>
            <a:r>
              <a:rPr lang="en-US" sz="1100">
                <a:solidFill>
                  <a:srgbClr val="334155"/>
                </a:solidFill>
                <a:latin typeface="Calibri"/>
                <a:ea typeface="Calibri"/>
                <a:cs typeface="Calibri"/>
                <a:sym typeface="Calibri"/>
              </a:rPr>
              <a:t>El dashboard traduce el modelo en una herramienta simple en forma de formulario</a:t>
            </a:r>
            <a:endParaRPr sz="1100">
              <a:solidFill>
                <a:schemeClr val="dk1"/>
              </a:solidFill>
              <a:latin typeface="Calibri"/>
              <a:ea typeface="Calibri"/>
              <a:cs typeface="Calibri"/>
              <a:sym typeface="Calibri"/>
            </a:endParaRPr>
          </a:p>
        </p:txBody>
      </p:sp>
      <p:sp>
        <p:nvSpPr>
          <p:cNvPr id="231" name="Google Shape;231;p9"/>
          <p:cNvSpPr/>
          <p:nvPr/>
        </p:nvSpPr>
        <p:spPr>
          <a:xfrm>
            <a:off x="274320" y="1325880"/>
            <a:ext cx="4160520" cy="150876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9"/>
          <p:cNvSpPr/>
          <p:nvPr/>
        </p:nvSpPr>
        <p:spPr>
          <a:xfrm>
            <a:off x="411480" y="1463040"/>
            <a:ext cx="411480" cy="411480"/>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9"/>
          <p:cNvSpPr/>
          <p:nvPr/>
        </p:nvSpPr>
        <p:spPr>
          <a:xfrm>
            <a:off x="411480" y="1463040"/>
            <a:ext cx="41148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01</a:t>
            </a:r>
            <a:endParaRPr sz="1200">
              <a:solidFill>
                <a:schemeClr val="dk1"/>
              </a:solidFill>
              <a:latin typeface="Calibri"/>
              <a:ea typeface="Calibri"/>
              <a:cs typeface="Calibri"/>
              <a:sym typeface="Calibri"/>
            </a:endParaRPr>
          </a:p>
        </p:txBody>
      </p:sp>
      <p:sp>
        <p:nvSpPr>
          <p:cNvPr id="234" name="Google Shape;234;p9"/>
          <p:cNvSpPr/>
          <p:nvPr/>
        </p:nvSpPr>
        <p:spPr>
          <a:xfrm>
            <a:off x="932688" y="1435608"/>
            <a:ext cx="3364992"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1100"/>
              <a:buFont typeface="Calibri"/>
              <a:buNone/>
            </a:pPr>
            <a:r>
              <a:rPr b="1" lang="en-US" sz="1100">
                <a:solidFill>
                  <a:srgbClr val="0D1F3C"/>
                </a:solidFill>
                <a:latin typeface="Calibri"/>
                <a:ea typeface="Calibri"/>
                <a:cs typeface="Calibri"/>
                <a:sym typeface="Calibri"/>
              </a:rPr>
              <a:t>El </a:t>
            </a:r>
            <a:r>
              <a:rPr b="1" lang="en-US" sz="1100">
                <a:solidFill>
                  <a:srgbClr val="0D1F3C"/>
                </a:solidFill>
                <a:latin typeface="Calibri"/>
                <a:ea typeface="Calibri"/>
                <a:cs typeface="Calibri"/>
                <a:sym typeface="Calibri"/>
              </a:rPr>
              <a:t>médico</a:t>
            </a:r>
            <a:r>
              <a:rPr b="1" lang="en-US" sz="1100">
                <a:solidFill>
                  <a:srgbClr val="0D1F3C"/>
                </a:solidFill>
                <a:latin typeface="Calibri"/>
                <a:ea typeface="Calibri"/>
                <a:cs typeface="Calibri"/>
                <a:sym typeface="Calibri"/>
              </a:rPr>
              <a:t> ingresa los datos del paciente</a:t>
            </a:r>
            <a:endParaRPr sz="1100">
              <a:solidFill>
                <a:schemeClr val="dk1"/>
              </a:solidFill>
              <a:latin typeface="Calibri"/>
              <a:ea typeface="Calibri"/>
              <a:cs typeface="Calibri"/>
              <a:sym typeface="Calibri"/>
            </a:endParaRPr>
          </a:p>
        </p:txBody>
      </p:sp>
      <p:sp>
        <p:nvSpPr>
          <p:cNvPr id="235" name="Google Shape;235;p9"/>
          <p:cNvSpPr/>
          <p:nvPr/>
        </p:nvSpPr>
        <p:spPr>
          <a:xfrm>
            <a:off x="411480" y="1920240"/>
            <a:ext cx="38862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Edad, glucosa, IMC, si tiene </a:t>
            </a:r>
            <a:r>
              <a:rPr lang="en-US" sz="1000">
                <a:solidFill>
                  <a:srgbClr val="64748B"/>
                </a:solidFill>
                <a:latin typeface="Calibri"/>
                <a:ea typeface="Calibri"/>
                <a:cs typeface="Calibri"/>
                <a:sym typeface="Calibri"/>
              </a:rPr>
              <a:t>hipertensión</a:t>
            </a:r>
            <a:r>
              <a:rPr lang="en-US" sz="1000">
                <a:solidFill>
                  <a:srgbClr val="64748B"/>
                </a:solidFill>
                <a:latin typeface="Calibri"/>
                <a:ea typeface="Calibri"/>
                <a:cs typeface="Calibri"/>
                <a:sym typeface="Calibri"/>
              </a:rPr>
              <a:t> o enfermedad cardiaca, habito de fumar, estado civil, tipo de trabajo y zona de residencia.</a:t>
            </a:r>
            <a:endParaRPr sz="1000">
              <a:solidFill>
                <a:schemeClr val="dk1"/>
              </a:solidFill>
              <a:latin typeface="Calibri"/>
              <a:ea typeface="Calibri"/>
              <a:cs typeface="Calibri"/>
              <a:sym typeface="Calibri"/>
            </a:endParaRPr>
          </a:p>
        </p:txBody>
      </p:sp>
      <p:sp>
        <p:nvSpPr>
          <p:cNvPr id="236" name="Google Shape;236;p9"/>
          <p:cNvSpPr/>
          <p:nvPr/>
        </p:nvSpPr>
        <p:spPr>
          <a:xfrm>
            <a:off x="4709160" y="1325880"/>
            <a:ext cx="4160520" cy="150876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 name="Google Shape;237;p9"/>
          <p:cNvSpPr/>
          <p:nvPr/>
        </p:nvSpPr>
        <p:spPr>
          <a:xfrm>
            <a:off x="4846320" y="1463040"/>
            <a:ext cx="411480" cy="411480"/>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 name="Google Shape;238;p9"/>
          <p:cNvSpPr/>
          <p:nvPr/>
        </p:nvSpPr>
        <p:spPr>
          <a:xfrm>
            <a:off x="4846320" y="1463040"/>
            <a:ext cx="41148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02</a:t>
            </a:r>
            <a:endParaRPr sz="1200">
              <a:solidFill>
                <a:schemeClr val="dk1"/>
              </a:solidFill>
              <a:latin typeface="Calibri"/>
              <a:ea typeface="Calibri"/>
              <a:cs typeface="Calibri"/>
              <a:sym typeface="Calibri"/>
            </a:endParaRPr>
          </a:p>
        </p:txBody>
      </p:sp>
      <p:sp>
        <p:nvSpPr>
          <p:cNvPr id="239" name="Google Shape;239;p9"/>
          <p:cNvSpPr/>
          <p:nvPr/>
        </p:nvSpPr>
        <p:spPr>
          <a:xfrm>
            <a:off x="5367528" y="1435608"/>
            <a:ext cx="3364992"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1100"/>
              <a:buFont typeface="Calibri"/>
              <a:buNone/>
            </a:pPr>
            <a:r>
              <a:rPr b="1" lang="en-US" sz="1100">
                <a:solidFill>
                  <a:srgbClr val="0D1F3C"/>
                </a:solidFill>
                <a:latin typeface="Calibri"/>
                <a:ea typeface="Calibri"/>
                <a:cs typeface="Calibri"/>
                <a:sym typeface="Calibri"/>
              </a:rPr>
              <a:t>El modelo calcula el riesgo</a:t>
            </a:r>
            <a:endParaRPr sz="1100">
              <a:solidFill>
                <a:schemeClr val="dk1"/>
              </a:solidFill>
              <a:latin typeface="Calibri"/>
              <a:ea typeface="Calibri"/>
              <a:cs typeface="Calibri"/>
              <a:sym typeface="Calibri"/>
            </a:endParaRPr>
          </a:p>
        </p:txBody>
      </p:sp>
      <p:sp>
        <p:nvSpPr>
          <p:cNvPr id="240" name="Google Shape;240;p9"/>
          <p:cNvSpPr/>
          <p:nvPr/>
        </p:nvSpPr>
        <p:spPr>
          <a:xfrm>
            <a:off x="4846320" y="1920240"/>
            <a:ext cx="38862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El sistema procesa las 10 variables y devuelve el porcentaje de probabilidad de ACV usando el modelo entrenado.</a:t>
            </a:r>
            <a:endParaRPr sz="1000">
              <a:solidFill>
                <a:schemeClr val="dk1"/>
              </a:solidFill>
              <a:latin typeface="Calibri"/>
              <a:ea typeface="Calibri"/>
              <a:cs typeface="Calibri"/>
              <a:sym typeface="Calibri"/>
            </a:endParaRPr>
          </a:p>
        </p:txBody>
      </p:sp>
      <p:sp>
        <p:nvSpPr>
          <p:cNvPr id="241" name="Google Shape;241;p9"/>
          <p:cNvSpPr/>
          <p:nvPr/>
        </p:nvSpPr>
        <p:spPr>
          <a:xfrm>
            <a:off x="274320" y="3017520"/>
            <a:ext cx="4160520" cy="150876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2" name="Google Shape;242;p9"/>
          <p:cNvSpPr/>
          <p:nvPr/>
        </p:nvSpPr>
        <p:spPr>
          <a:xfrm>
            <a:off x="411480" y="3154680"/>
            <a:ext cx="411480" cy="411480"/>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 name="Google Shape;243;p9"/>
          <p:cNvSpPr/>
          <p:nvPr/>
        </p:nvSpPr>
        <p:spPr>
          <a:xfrm>
            <a:off x="411480" y="3154680"/>
            <a:ext cx="41148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03</a:t>
            </a:r>
            <a:endParaRPr sz="1200">
              <a:solidFill>
                <a:schemeClr val="dk1"/>
              </a:solidFill>
              <a:latin typeface="Calibri"/>
              <a:ea typeface="Calibri"/>
              <a:cs typeface="Calibri"/>
              <a:sym typeface="Calibri"/>
            </a:endParaRPr>
          </a:p>
        </p:txBody>
      </p:sp>
      <p:sp>
        <p:nvSpPr>
          <p:cNvPr id="244" name="Google Shape;244;p9"/>
          <p:cNvSpPr/>
          <p:nvPr/>
        </p:nvSpPr>
        <p:spPr>
          <a:xfrm>
            <a:off x="932688" y="3127248"/>
            <a:ext cx="3364992"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1100"/>
              <a:buFont typeface="Calibri"/>
              <a:buNone/>
            </a:pPr>
            <a:r>
              <a:rPr b="1" lang="en-US" sz="1100">
                <a:solidFill>
                  <a:srgbClr val="0D1F3C"/>
                </a:solidFill>
                <a:latin typeface="Calibri"/>
                <a:ea typeface="Calibri"/>
                <a:cs typeface="Calibri"/>
                <a:sym typeface="Calibri"/>
              </a:rPr>
              <a:t>Se muestra el nivel de riesgo con color</a:t>
            </a:r>
            <a:endParaRPr sz="1100">
              <a:solidFill>
                <a:schemeClr val="dk1"/>
              </a:solidFill>
              <a:latin typeface="Calibri"/>
              <a:ea typeface="Calibri"/>
              <a:cs typeface="Calibri"/>
              <a:sym typeface="Calibri"/>
            </a:endParaRPr>
          </a:p>
        </p:txBody>
      </p:sp>
      <p:sp>
        <p:nvSpPr>
          <p:cNvPr id="245" name="Google Shape;245;p9"/>
          <p:cNvSpPr/>
          <p:nvPr/>
        </p:nvSpPr>
        <p:spPr>
          <a:xfrm>
            <a:off x="411480" y="3611880"/>
            <a:ext cx="38862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Rojo = ALTO (mas de 70%), Amarillo = MODERADO (40-70%), Verde = BAJO (menos de 40%).</a:t>
            </a:r>
            <a:endParaRPr sz="1000">
              <a:solidFill>
                <a:schemeClr val="dk1"/>
              </a:solidFill>
              <a:latin typeface="Calibri"/>
              <a:ea typeface="Calibri"/>
              <a:cs typeface="Calibri"/>
              <a:sym typeface="Calibri"/>
            </a:endParaRPr>
          </a:p>
        </p:txBody>
      </p:sp>
      <p:sp>
        <p:nvSpPr>
          <p:cNvPr id="246" name="Google Shape;246;p9"/>
          <p:cNvSpPr/>
          <p:nvPr/>
        </p:nvSpPr>
        <p:spPr>
          <a:xfrm>
            <a:off x="4709160" y="3017520"/>
            <a:ext cx="4160520" cy="150876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 name="Google Shape;247;p9"/>
          <p:cNvSpPr/>
          <p:nvPr/>
        </p:nvSpPr>
        <p:spPr>
          <a:xfrm>
            <a:off x="4846320" y="3154680"/>
            <a:ext cx="411480" cy="411480"/>
          </a:xfrm>
          <a:prstGeom prst="ellipse">
            <a:avLst/>
          </a:prstGeom>
          <a:solidFill>
            <a:srgbClr val="028090"/>
          </a:solidFill>
          <a:ln cap="flat" cmpd="sng" w="12700">
            <a:solidFill>
              <a:srgbClr val="0280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8" name="Google Shape;248;p9"/>
          <p:cNvSpPr/>
          <p:nvPr/>
        </p:nvSpPr>
        <p:spPr>
          <a:xfrm>
            <a:off x="4846320" y="3154680"/>
            <a:ext cx="41148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04</a:t>
            </a:r>
            <a:endParaRPr sz="1200">
              <a:solidFill>
                <a:schemeClr val="dk1"/>
              </a:solidFill>
              <a:latin typeface="Calibri"/>
              <a:ea typeface="Calibri"/>
              <a:cs typeface="Calibri"/>
              <a:sym typeface="Calibri"/>
            </a:endParaRPr>
          </a:p>
        </p:txBody>
      </p:sp>
      <p:sp>
        <p:nvSpPr>
          <p:cNvPr id="249" name="Google Shape;249;p9"/>
          <p:cNvSpPr/>
          <p:nvPr/>
        </p:nvSpPr>
        <p:spPr>
          <a:xfrm>
            <a:off x="5367528" y="3127248"/>
            <a:ext cx="3364992"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F3C"/>
              </a:buClr>
              <a:buSzPts val="1100"/>
              <a:buFont typeface="Calibri"/>
              <a:buNone/>
            </a:pPr>
            <a:r>
              <a:rPr b="1" lang="en-US" sz="1100">
                <a:solidFill>
                  <a:srgbClr val="0D1F3C"/>
                </a:solidFill>
                <a:latin typeface="Calibri"/>
                <a:ea typeface="Calibri"/>
                <a:cs typeface="Calibri"/>
                <a:sym typeface="Calibri"/>
              </a:rPr>
              <a:t>Se recibe la </a:t>
            </a:r>
            <a:r>
              <a:rPr b="1" lang="en-US" sz="1100">
                <a:solidFill>
                  <a:srgbClr val="0D1F3C"/>
                </a:solidFill>
                <a:latin typeface="Calibri"/>
                <a:ea typeface="Calibri"/>
                <a:cs typeface="Calibri"/>
                <a:sym typeface="Calibri"/>
              </a:rPr>
              <a:t>acción</a:t>
            </a:r>
            <a:r>
              <a:rPr b="1" lang="en-US" sz="1100">
                <a:solidFill>
                  <a:srgbClr val="0D1F3C"/>
                </a:solidFill>
                <a:latin typeface="Calibri"/>
                <a:ea typeface="Calibri"/>
                <a:cs typeface="Calibri"/>
                <a:sym typeface="Calibri"/>
              </a:rPr>
              <a:t> </a:t>
            </a:r>
            <a:r>
              <a:rPr b="1" lang="en-US" sz="1100">
                <a:solidFill>
                  <a:srgbClr val="0D1F3C"/>
                </a:solidFill>
                <a:latin typeface="Calibri"/>
                <a:ea typeface="Calibri"/>
                <a:cs typeface="Calibri"/>
                <a:sym typeface="Calibri"/>
              </a:rPr>
              <a:t>clínica</a:t>
            </a:r>
            <a:r>
              <a:rPr b="1" lang="en-US" sz="1100">
                <a:solidFill>
                  <a:srgbClr val="0D1F3C"/>
                </a:solidFill>
                <a:latin typeface="Calibri"/>
                <a:ea typeface="Calibri"/>
                <a:cs typeface="Calibri"/>
                <a:sym typeface="Calibri"/>
              </a:rPr>
              <a:t> recomendada</a:t>
            </a:r>
            <a:endParaRPr sz="1100">
              <a:solidFill>
                <a:schemeClr val="dk1"/>
              </a:solidFill>
              <a:latin typeface="Calibri"/>
              <a:ea typeface="Calibri"/>
              <a:cs typeface="Calibri"/>
              <a:sym typeface="Calibri"/>
            </a:endParaRPr>
          </a:p>
        </p:txBody>
      </p:sp>
      <p:sp>
        <p:nvSpPr>
          <p:cNvPr id="250" name="Google Shape;250;p9"/>
          <p:cNvSpPr/>
          <p:nvPr/>
        </p:nvSpPr>
        <p:spPr>
          <a:xfrm>
            <a:off x="4846320" y="3611880"/>
            <a:ext cx="38862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1000"/>
              <a:buFont typeface="Calibri"/>
              <a:buNone/>
            </a:pPr>
            <a:r>
              <a:rPr lang="en-US" sz="1000">
                <a:solidFill>
                  <a:srgbClr val="64748B"/>
                </a:solidFill>
                <a:latin typeface="Calibri"/>
                <a:ea typeface="Calibri"/>
                <a:cs typeface="Calibri"/>
                <a:sym typeface="Calibri"/>
              </a:rPr>
              <a:t>El dashboard indica directamente que hacer: </a:t>
            </a:r>
            <a:r>
              <a:rPr lang="en-US" sz="1000">
                <a:solidFill>
                  <a:srgbClr val="64748B"/>
                </a:solidFill>
                <a:latin typeface="Calibri"/>
                <a:ea typeface="Calibri"/>
                <a:cs typeface="Calibri"/>
                <a:sym typeface="Calibri"/>
              </a:rPr>
              <a:t>inscripción</a:t>
            </a:r>
            <a:r>
              <a:rPr lang="en-US" sz="1000">
                <a:solidFill>
                  <a:srgbClr val="64748B"/>
                </a:solidFill>
                <a:latin typeface="Calibri"/>
                <a:ea typeface="Calibri"/>
                <a:cs typeface="Calibri"/>
                <a:sym typeface="Calibri"/>
              </a:rPr>
              <a:t> inmediata, </a:t>
            </a:r>
            <a:r>
              <a:rPr lang="en-US" sz="1000">
                <a:solidFill>
                  <a:srgbClr val="64748B"/>
                </a:solidFill>
                <a:latin typeface="Calibri"/>
                <a:ea typeface="Calibri"/>
                <a:cs typeface="Calibri"/>
                <a:sym typeface="Calibri"/>
              </a:rPr>
              <a:t>evaluación</a:t>
            </a:r>
            <a:r>
              <a:rPr lang="en-US" sz="1000">
                <a:solidFill>
                  <a:srgbClr val="64748B"/>
                </a:solidFill>
                <a:latin typeface="Calibri"/>
                <a:ea typeface="Calibri"/>
                <a:cs typeface="Calibri"/>
                <a:sym typeface="Calibri"/>
              </a:rPr>
              <a:t> en 30 </a:t>
            </a:r>
            <a:r>
              <a:rPr lang="en-US" sz="1000">
                <a:solidFill>
                  <a:srgbClr val="64748B"/>
                </a:solidFill>
                <a:latin typeface="Calibri"/>
                <a:ea typeface="Calibri"/>
                <a:cs typeface="Calibri"/>
                <a:sym typeface="Calibri"/>
              </a:rPr>
              <a:t>días</a:t>
            </a:r>
            <a:r>
              <a:rPr lang="en-US" sz="1000">
                <a:solidFill>
                  <a:srgbClr val="64748B"/>
                </a:solidFill>
                <a:latin typeface="Calibri"/>
                <a:ea typeface="Calibri"/>
                <a:cs typeface="Calibri"/>
                <a:sym typeface="Calibri"/>
              </a:rPr>
              <a:t> o seguimiento anual. La </a:t>
            </a:r>
            <a:r>
              <a:rPr lang="en-US" sz="1000">
                <a:solidFill>
                  <a:srgbClr val="64748B"/>
                </a:solidFill>
                <a:latin typeface="Calibri"/>
                <a:ea typeface="Calibri"/>
                <a:cs typeface="Calibri"/>
                <a:sym typeface="Calibri"/>
              </a:rPr>
              <a:t>decisión</a:t>
            </a:r>
            <a:r>
              <a:rPr lang="en-US" sz="1000">
                <a:solidFill>
                  <a:srgbClr val="64748B"/>
                </a:solidFill>
                <a:latin typeface="Calibri"/>
                <a:ea typeface="Calibri"/>
                <a:cs typeface="Calibri"/>
                <a:sym typeface="Calibri"/>
              </a:rPr>
              <a:t> es siempre del </a:t>
            </a:r>
            <a:r>
              <a:rPr lang="en-US" sz="1000">
                <a:solidFill>
                  <a:srgbClr val="64748B"/>
                </a:solidFill>
                <a:latin typeface="Calibri"/>
                <a:ea typeface="Calibri"/>
                <a:cs typeface="Calibri"/>
                <a:sym typeface="Calibri"/>
              </a:rPr>
              <a:t>médico</a:t>
            </a:r>
            <a:r>
              <a:rPr lang="en-US" sz="1000">
                <a:solidFill>
                  <a:srgbClr val="64748B"/>
                </a:solidFill>
                <a:latin typeface="Calibri"/>
                <a:ea typeface="Calibri"/>
                <a:cs typeface="Calibri"/>
                <a:sym typeface="Calibri"/>
              </a:rPr>
              <a:t>.</a:t>
            </a:r>
            <a:endParaRPr sz="10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F3C"/>
        </a:solidFill>
      </p:bgPr>
    </p:bg>
    <p:spTree>
      <p:nvGrpSpPr>
        <p:cNvPr id="255" name="Shape 255"/>
        <p:cNvGrpSpPr/>
        <p:nvPr/>
      </p:nvGrpSpPr>
      <p:grpSpPr>
        <a:xfrm>
          <a:off x="0" y="0"/>
          <a:ext cx="0" cy="0"/>
          <a:chOff x="0" y="0"/>
          <a:chExt cx="0" cy="0"/>
        </a:xfrm>
      </p:grpSpPr>
      <p:sp>
        <p:nvSpPr>
          <p:cNvPr id="256" name="Google Shape;256;p10"/>
          <p:cNvSpPr/>
          <p:nvPr/>
        </p:nvSpPr>
        <p:spPr>
          <a:xfrm>
            <a:off x="6858000" y="2926080"/>
            <a:ext cx="4114800" cy="4114800"/>
          </a:xfrm>
          <a:prstGeom prst="ellipse">
            <a:avLst/>
          </a:prstGeom>
          <a:solidFill>
            <a:srgbClr val="028090">
              <a:alpha val="12156"/>
            </a:srgbClr>
          </a:solidFill>
          <a:ln cap="flat" cmpd="sng" w="12700">
            <a:solidFill>
              <a:srgbClr val="028090">
                <a:alpha val="1215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 name="Google Shape;257;p10"/>
          <p:cNvSpPr/>
          <p:nvPr/>
        </p:nvSpPr>
        <p:spPr>
          <a:xfrm>
            <a:off x="457200" y="274320"/>
            <a:ext cx="82296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Calibri"/>
              <a:buNone/>
            </a:pPr>
            <a:r>
              <a:rPr b="1" lang="en-US" sz="2600">
                <a:solidFill>
                  <a:srgbClr val="FFFFFF"/>
                </a:solidFill>
                <a:latin typeface="Calibri"/>
                <a:ea typeface="Calibri"/>
                <a:cs typeface="Calibri"/>
                <a:sym typeface="Calibri"/>
              </a:rPr>
              <a:t>CONCLUSIÓN</a:t>
            </a:r>
            <a:endParaRPr sz="2600">
              <a:solidFill>
                <a:schemeClr val="dk1"/>
              </a:solidFill>
              <a:latin typeface="Calibri"/>
              <a:ea typeface="Calibri"/>
              <a:cs typeface="Calibri"/>
              <a:sym typeface="Calibri"/>
            </a:endParaRPr>
          </a:p>
        </p:txBody>
      </p:sp>
      <p:sp>
        <p:nvSpPr>
          <p:cNvPr id="258" name="Google Shape;258;p10"/>
          <p:cNvSpPr/>
          <p:nvPr/>
        </p:nvSpPr>
        <p:spPr>
          <a:xfrm>
            <a:off x="365760" y="1078992"/>
            <a:ext cx="347472" cy="347472"/>
          </a:xfrm>
          <a:prstGeom prst="ellipse">
            <a:avLst/>
          </a:prstGeom>
          <a:solidFill>
            <a:srgbClr val="02C39A"/>
          </a:solidFill>
          <a:ln cap="flat" cmpd="sng" w="12700">
            <a:solidFill>
              <a:srgbClr val="02C39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 name="Google Shape;259;p10"/>
          <p:cNvSpPr/>
          <p:nvPr/>
        </p:nvSpPr>
        <p:spPr>
          <a:xfrm>
            <a:off x="365760" y="1078992"/>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F3C"/>
              </a:buClr>
              <a:buSzPts val="1100"/>
              <a:buFont typeface="Calibri"/>
              <a:buNone/>
            </a:pPr>
            <a:r>
              <a:rPr b="1" lang="en-US" sz="1100">
                <a:solidFill>
                  <a:srgbClr val="0D1F3C"/>
                </a:solidFill>
                <a:latin typeface="Calibri"/>
                <a:ea typeface="Calibri"/>
                <a:cs typeface="Calibri"/>
                <a:sym typeface="Calibri"/>
              </a:rPr>
              <a:t>1</a:t>
            </a:r>
            <a:endParaRPr sz="1100">
              <a:solidFill>
                <a:schemeClr val="dk1"/>
              </a:solidFill>
              <a:latin typeface="Calibri"/>
              <a:ea typeface="Calibri"/>
              <a:cs typeface="Calibri"/>
              <a:sym typeface="Calibri"/>
            </a:endParaRPr>
          </a:p>
        </p:txBody>
      </p:sp>
      <p:sp>
        <p:nvSpPr>
          <p:cNvPr id="260" name="Google Shape;260;p10"/>
          <p:cNvSpPr/>
          <p:nvPr/>
        </p:nvSpPr>
        <p:spPr>
          <a:xfrm>
            <a:off x="868680" y="1005840"/>
            <a:ext cx="7772400" cy="7132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100"/>
              <a:buFont typeface="Calibri"/>
              <a:buNone/>
            </a:pPr>
            <a:r>
              <a:rPr lang="en-US" sz="1100">
                <a:solidFill>
                  <a:srgbClr val="CADCFC"/>
                </a:solidFill>
                <a:latin typeface="Calibri"/>
                <a:ea typeface="Calibri"/>
                <a:cs typeface="Calibri"/>
                <a:sym typeface="Calibri"/>
              </a:rPr>
              <a:t>El modelo ayuda a detectar  pacientes que </a:t>
            </a:r>
            <a:r>
              <a:rPr lang="en-US" sz="1100">
                <a:solidFill>
                  <a:srgbClr val="CADCFC"/>
                </a:solidFill>
                <a:latin typeface="Calibri"/>
                <a:ea typeface="Calibri"/>
                <a:cs typeface="Calibri"/>
                <a:sym typeface="Calibri"/>
              </a:rPr>
              <a:t>tendrán</a:t>
            </a:r>
            <a:r>
              <a:rPr lang="en-US" sz="1100">
                <a:solidFill>
                  <a:srgbClr val="CADCFC"/>
                </a:solidFill>
                <a:latin typeface="Calibri"/>
                <a:ea typeface="Calibri"/>
                <a:cs typeface="Calibri"/>
                <a:sym typeface="Calibri"/>
              </a:rPr>
              <a:t> un ACV lo que representa decenas de vidas que </a:t>
            </a:r>
            <a:r>
              <a:rPr lang="en-US" sz="1100">
                <a:solidFill>
                  <a:srgbClr val="CADCFC"/>
                </a:solidFill>
                <a:latin typeface="Calibri"/>
                <a:ea typeface="Calibri"/>
                <a:cs typeface="Calibri"/>
                <a:sym typeface="Calibri"/>
              </a:rPr>
              <a:t>podrían</a:t>
            </a:r>
            <a:r>
              <a:rPr lang="en-US" sz="1100">
                <a:solidFill>
                  <a:srgbClr val="CADCFC"/>
                </a:solidFill>
                <a:latin typeface="Calibri"/>
                <a:ea typeface="Calibri"/>
                <a:cs typeface="Calibri"/>
                <a:sym typeface="Calibri"/>
              </a:rPr>
              <a:t> protegerse con </a:t>
            </a:r>
            <a:r>
              <a:rPr lang="en-US" sz="1100">
                <a:solidFill>
                  <a:srgbClr val="CADCFC"/>
                </a:solidFill>
                <a:latin typeface="Calibri"/>
                <a:ea typeface="Calibri"/>
                <a:cs typeface="Calibri"/>
                <a:sym typeface="Calibri"/>
              </a:rPr>
              <a:t>intervención</a:t>
            </a:r>
            <a:r>
              <a:rPr lang="en-US" sz="1100">
                <a:solidFill>
                  <a:srgbClr val="CADCFC"/>
                </a:solidFill>
                <a:latin typeface="Calibri"/>
                <a:ea typeface="Calibri"/>
                <a:cs typeface="Calibri"/>
                <a:sym typeface="Calibri"/>
              </a:rPr>
              <a:t> temprana.</a:t>
            </a:r>
            <a:endParaRPr sz="1100">
              <a:solidFill>
                <a:schemeClr val="dk1"/>
              </a:solidFill>
              <a:latin typeface="Calibri"/>
              <a:ea typeface="Calibri"/>
              <a:cs typeface="Calibri"/>
              <a:sym typeface="Calibri"/>
            </a:endParaRPr>
          </a:p>
        </p:txBody>
      </p:sp>
      <p:sp>
        <p:nvSpPr>
          <p:cNvPr id="261" name="Google Shape;261;p10"/>
          <p:cNvSpPr/>
          <p:nvPr/>
        </p:nvSpPr>
        <p:spPr>
          <a:xfrm>
            <a:off x="365760" y="1874520"/>
            <a:ext cx="347472" cy="347472"/>
          </a:xfrm>
          <a:prstGeom prst="ellipse">
            <a:avLst/>
          </a:prstGeom>
          <a:solidFill>
            <a:srgbClr val="02C39A"/>
          </a:solidFill>
          <a:ln cap="flat" cmpd="sng" w="12700">
            <a:solidFill>
              <a:srgbClr val="02C39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2" name="Google Shape;262;p10"/>
          <p:cNvSpPr/>
          <p:nvPr/>
        </p:nvSpPr>
        <p:spPr>
          <a:xfrm>
            <a:off x="365760" y="1874520"/>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F3C"/>
              </a:buClr>
              <a:buSzPts val="1100"/>
              <a:buFont typeface="Calibri"/>
              <a:buNone/>
            </a:pPr>
            <a:r>
              <a:rPr b="1" lang="en-US" sz="1100">
                <a:solidFill>
                  <a:srgbClr val="0D1F3C"/>
                </a:solidFill>
                <a:latin typeface="Calibri"/>
                <a:ea typeface="Calibri"/>
                <a:cs typeface="Calibri"/>
                <a:sym typeface="Calibri"/>
              </a:rPr>
              <a:t>2</a:t>
            </a:r>
            <a:endParaRPr sz="1100">
              <a:solidFill>
                <a:schemeClr val="dk1"/>
              </a:solidFill>
              <a:latin typeface="Calibri"/>
              <a:ea typeface="Calibri"/>
              <a:cs typeface="Calibri"/>
              <a:sym typeface="Calibri"/>
            </a:endParaRPr>
          </a:p>
        </p:txBody>
      </p:sp>
      <p:sp>
        <p:nvSpPr>
          <p:cNvPr id="263" name="Google Shape;263;p10"/>
          <p:cNvSpPr/>
          <p:nvPr/>
        </p:nvSpPr>
        <p:spPr>
          <a:xfrm>
            <a:off x="868680" y="1801368"/>
            <a:ext cx="7772400" cy="7132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100"/>
              <a:buFont typeface="Calibri"/>
              <a:buNone/>
            </a:pPr>
            <a:r>
              <a:rPr lang="en-US" sz="1100">
                <a:solidFill>
                  <a:srgbClr val="CADCFC"/>
                </a:solidFill>
                <a:latin typeface="Calibri"/>
                <a:ea typeface="Calibri"/>
                <a:cs typeface="Calibri"/>
                <a:sym typeface="Calibri"/>
              </a:rPr>
              <a:t>Los factores que </a:t>
            </a:r>
            <a:r>
              <a:rPr lang="en-US" sz="1100">
                <a:solidFill>
                  <a:srgbClr val="CADCFC"/>
                </a:solidFill>
                <a:latin typeface="Calibri"/>
                <a:ea typeface="Calibri"/>
                <a:cs typeface="Calibri"/>
                <a:sym typeface="Calibri"/>
              </a:rPr>
              <a:t>más</a:t>
            </a:r>
            <a:r>
              <a:rPr lang="en-US" sz="1100">
                <a:solidFill>
                  <a:srgbClr val="CADCFC"/>
                </a:solidFill>
                <a:latin typeface="Calibri"/>
                <a:ea typeface="Calibri"/>
                <a:cs typeface="Calibri"/>
                <a:sym typeface="Calibri"/>
              </a:rPr>
              <a:t> importan son la edad y la glucosa en sangre. Lo cual se pueden controlar con dieta y </a:t>
            </a:r>
            <a:r>
              <a:rPr lang="en-US" sz="1100">
                <a:solidFill>
                  <a:srgbClr val="CADCFC"/>
                </a:solidFill>
                <a:latin typeface="Calibri"/>
                <a:ea typeface="Calibri"/>
                <a:cs typeface="Calibri"/>
                <a:sym typeface="Calibri"/>
              </a:rPr>
              <a:t>medicación</a:t>
            </a:r>
            <a:r>
              <a:rPr lang="en-US" sz="1100">
                <a:solidFill>
                  <a:srgbClr val="CADCFC"/>
                </a:solidFill>
                <a:latin typeface="Calibri"/>
                <a:ea typeface="Calibri"/>
                <a:cs typeface="Calibri"/>
                <a:sym typeface="Calibri"/>
              </a:rPr>
              <a:t>, lo que significa que intervenir a tiempo si hace diferencia.</a:t>
            </a:r>
            <a:endParaRPr sz="1100">
              <a:solidFill>
                <a:schemeClr val="dk1"/>
              </a:solidFill>
              <a:latin typeface="Calibri"/>
              <a:ea typeface="Calibri"/>
              <a:cs typeface="Calibri"/>
              <a:sym typeface="Calibri"/>
            </a:endParaRPr>
          </a:p>
        </p:txBody>
      </p:sp>
      <p:sp>
        <p:nvSpPr>
          <p:cNvPr id="264" name="Google Shape;264;p10"/>
          <p:cNvSpPr/>
          <p:nvPr/>
        </p:nvSpPr>
        <p:spPr>
          <a:xfrm>
            <a:off x="365760" y="2670048"/>
            <a:ext cx="347472" cy="347472"/>
          </a:xfrm>
          <a:prstGeom prst="ellipse">
            <a:avLst/>
          </a:prstGeom>
          <a:solidFill>
            <a:srgbClr val="02C39A"/>
          </a:solidFill>
          <a:ln cap="flat" cmpd="sng" w="12700">
            <a:solidFill>
              <a:srgbClr val="02C39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5" name="Google Shape;265;p10"/>
          <p:cNvSpPr/>
          <p:nvPr/>
        </p:nvSpPr>
        <p:spPr>
          <a:xfrm>
            <a:off x="365760" y="2670048"/>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F3C"/>
              </a:buClr>
              <a:buSzPts val="1100"/>
              <a:buFont typeface="Calibri"/>
              <a:buNone/>
            </a:pPr>
            <a:r>
              <a:rPr b="1" lang="en-US" sz="1100">
                <a:solidFill>
                  <a:srgbClr val="0D1F3C"/>
                </a:solidFill>
                <a:latin typeface="Calibri"/>
                <a:ea typeface="Calibri"/>
                <a:cs typeface="Calibri"/>
                <a:sym typeface="Calibri"/>
              </a:rPr>
              <a:t>3</a:t>
            </a:r>
            <a:endParaRPr sz="1100">
              <a:solidFill>
                <a:schemeClr val="dk1"/>
              </a:solidFill>
              <a:latin typeface="Calibri"/>
              <a:ea typeface="Calibri"/>
              <a:cs typeface="Calibri"/>
              <a:sym typeface="Calibri"/>
            </a:endParaRPr>
          </a:p>
        </p:txBody>
      </p:sp>
      <p:sp>
        <p:nvSpPr>
          <p:cNvPr id="266" name="Google Shape;266;p10"/>
          <p:cNvSpPr/>
          <p:nvPr/>
        </p:nvSpPr>
        <p:spPr>
          <a:xfrm>
            <a:off x="868680" y="2596896"/>
            <a:ext cx="7772400" cy="7132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100"/>
              <a:buFont typeface="Calibri"/>
              <a:buNone/>
            </a:pPr>
            <a:r>
              <a:rPr lang="en-US" sz="1100">
                <a:solidFill>
                  <a:srgbClr val="CADCFC"/>
                </a:solidFill>
                <a:latin typeface="Calibri"/>
                <a:ea typeface="Calibri"/>
                <a:cs typeface="Calibri"/>
                <a:sym typeface="Calibri"/>
              </a:rPr>
              <a:t>Elegimos la </a:t>
            </a:r>
            <a:r>
              <a:rPr lang="en-US" sz="1100">
                <a:solidFill>
                  <a:srgbClr val="CADCFC"/>
                </a:solidFill>
                <a:latin typeface="Calibri"/>
                <a:ea typeface="Calibri"/>
                <a:cs typeface="Calibri"/>
                <a:sym typeface="Calibri"/>
              </a:rPr>
              <a:t>Regresión</a:t>
            </a:r>
            <a:r>
              <a:rPr lang="en-US" sz="1100">
                <a:solidFill>
                  <a:srgbClr val="CADCFC"/>
                </a:solidFill>
                <a:latin typeface="Calibri"/>
                <a:ea typeface="Calibri"/>
                <a:cs typeface="Calibri"/>
                <a:sym typeface="Calibri"/>
              </a:rPr>
              <a:t> </a:t>
            </a:r>
            <a:r>
              <a:rPr lang="en-US" sz="1100">
                <a:solidFill>
                  <a:srgbClr val="CADCFC"/>
                </a:solidFill>
                <a:latin typeface="Calibri"/>
                <a:ea typeface="Calibri"/>
                <a:cs typeface="Calibri"/>
                <a:sym typeface="Calibri"/>
              </a:rPr>
              <a:t>Logística</a:t>
            </a:r>
            <a:r>
              <a:rPr lang="en-US" sz="1100">
                <a:solidFill>
                  <a:srgbClr val="CADCFC"/>
                </a:solidFill>
                <a:latin typeface="Calibri"/>
                <a:ea typeface="Calibri"/>
                <a:cs typeface="Calibri"/>
                <a:sym typeface="Calibri"/>
              </a:rPr>
              <a:t> sobre el Random Forest porque el modelo aprende mejor sin memorizar los datos lo hace </a:t>
            </a:r>
            <a:r>
              <a:rPr lang="en-US" sz="1100">
                <a:solidFill>
                  <a:srgbClr val="CADCFC"/>
                </a:solidFill>
                <a:latin typeface="Calibri"/>
                <a:ea typeface="Calibri"/>
                <a:cs typeface="Calibri"/>
                <a:sym typeface="Calibri"/>
              </a:rPr>
              <a:t>más</a:t>
            </a:r>
            <a:r>
              <a:rPr lang="en-US" sz="1100">
                <a:solidFill>
                  <a:srgbClr val="CADCFC"/>
                </a:solidFill>
                <a:latin typeface="Calibri"/>
                <a:ea typeface="Calibri"/>
                <a:cs typeface="Calibri"/>
                <a:sym typeface="Calibri"/>
              </a:rPr>
              <a:t> confiable con pacientes nuevos.</a:t>
            </a:r>
            <a:endParaRPr sz="1100">
              <a:solidFill>
                <a:schemeClr val="dk1"/>
              </a:solidFill>
              <a:latin typeface="Calibri"/>
              <a:ea typeface="Calibri"/>
              <a:cs typeface="Calibri"/>
              <a:sym typeface="Calibri"/>
            </a:endParaRPr>
          </a:p>
        </p:txBody>
      </p:sp>
      <p:sp>
        <p:nvSpPr>
          <p:cNvPr id="267" name="Google Shape;267;p10"/>
          <p:cNvSpPr/>
          <p:nvPr/>
        </p:nvSpPr>
        <p:spPr>
          <a:xfrm>
            <a:off x="365760" y="3465576"/>
            <a:ext cx="347472" cy="347472"/>
          </a:xfrm>
          <a:prstGeom prst="ellipse">
            <a:avLst/>
          </a:prstGeom>
          <a:solidFill>
            <a:srgbClr val="02C39A"/>
          </a:solidFill>
          <a:ln cap="flat" cmpd="sng" w="12700">
            <a:solidFill>
              <a:srgbClr val="02C39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8" name="Google Shape;268;p10"/>
          <p:cNvSpPr/>
          <p:nvPr/>
        </p:nvSpPr>
        <p:spPr>
          <a:xfrm>
            <a:off x="365760" y="3465576"/>
            <a:ext cx="347472" cy="34747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F3C"/>
              </a:buClr>
              <a:buSzPts val="1100"/>
              <a:buFont typeface="Calibri"/>
              <a:buNone/>
            </a:pPr>
            <a:r>
              <a:rPr b="1" lang="en-US" sz="1100">
                <a:solidFill>
                  <a:srgbClr val="0D1F3C"/>
                </a:solidFill>
                <a:latin typeface="Calibri"/>
                <a:ea typeface="Calibri"/>
                <a:cs typeface="Calibri"/>
                <a:sym typeface="Calibri"/>
              </a:rPr>
              <a:t>4</a:t>
            </a:r>
            <a:endParaRPr sz="1100">
              <a:solidFill>
                <a:schemeClr val="dk1"/>
              </a:solidFill>
              <a:latin typeface="Calibri"/>
              <a:ea typeface="Calibri"/>
              <a:cs typeface="Calibri"/>
              <a:sym typeface="Calibri"/>
            </a:endParaRPr>
          </a:p>
        </p:txBody>
      </p:sp>
      <p:sp>
        <p:nvSpPr>
          <p:cNvPr id="269" name="Google Shape;269;p10"/>
          <p:cNvSpPr/>
          <p:nvPr/>
        </p:nvSpPr>
        <p:spPr>
          <a:xfrm>
            <a:off x="868680" y="3392424"/>
            <a:ext cx="7772400" cy="7132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ADCFC"/>
              </a:buClr>
              <a:buSzPts val="1100"/>
              <a:buFont typeface="Calibri"/>
              <a:buNone/>
            </a:pPr>
            <a:r>
              <a:rPr lang="en-US" sz="1100">
                <a:solidFill>
                  <a:srgbClr val="CADCFC"/>
                </a:solidFill>
                <a:latin typeface="Calibri"/>
                <a:ea typeface="Calibri"/>
                <a:cs typeface="Calibri"/>
                <a:sym typeface="Calibri"/>
              </a:rPr>
              <a:t>El dashboard convierte el modelo en una herramienta </a:t>
            </a:r>
            <a:r>
              <a:rPr lang="en-US" sz="1100">
                <a:solidFill>
                  <a:srgbClr val="CADCFC"/>
                </a:solidFill>
                <a:latin typeface="Calibri"/>
                <a:ea typeface="Calibri"/>
                <a:cs typeface="Calibri"/>
                <a:sym typeface="Calibri"/>
              </a:rPr>
              <a:t>práctica</a:t>
            </a:r>
            <a:r>
              <a:rPr lang="en-US" sz="1100">
                <a:solidFill>
                  <a:srgbClr val="CADCFC"/>
                </a:solidFill>
                <a:latin typeface="Calibri"/>
                <a:ea typeface="Calibri"/>
                <a:cs typeface="Calibri"/>
                <a:sym typeface="Calibri"/>
              </a:rPr>
              <a:t>: el </a:t>
            </a:r>
            <a:r>
              <a:rPr lang="en-US" sz="1100">
                <a:solidFill>
                  <a:srgbClr val="CADCFC"/>
                </a:solidFill>
                <a:latin typeface="Calibri"/>
                <a:ea typeface="Calibri"/>
                <a:cs typeface="Calibri"/>
                <a:sym typeface="Calibri"/>
              </a:rPr>
              <a:t>médico</a:t>
            </a:r>
            <a:r>
              <a:rPr lang="en-US" sz="1100">
                <a:solidFill>
                  <a:srgbClr val="CADCFC"/>
                </a:solidFill>
                <a:latin typeface="Calibri"/>
                <a:ea typeface="Calibri"/>
                <a:cs typeface="Calibri"/>
                <a:sym typeface="Calibri"/>
              </a:rPr>
              <a:t> ingresa los datos y en segundos recibe el nivel de riesgo y la </a:t>
            </a:r>
            <a:r>
              <a:rPr lang="en-US" sz="1100">
                <a:solidFill>
                  <a:srgbClr val="CADCFC"/>
                </a:solidFill>
                <a:latin typeface="Calibri"/>
                <a:ea typeface="Calibri"/>
                <a:cs typeface="Calibri"/>
                <a:sym typeface="Calibri"/>
              </a:rPr>
              <a:t>acción</a:t>
            </a:r>
            <a:r>
              <a:rPr lang="en-US" sz="1100">
                <a:solidFill>
                  <a:srgbClr val="CADCFC"/>
                </a:solidFill>
                <a:latin typeface="Calibri"/>
                <a:ea typeface="Calibri"/>
                <a:cs typeface="Calibri"/>
                <a:sym typeface="Calibri"/>
              </a:rPr>
              <a:t> recomendada, sin necesidad de entender el </a:t>
            </a:r>
            <a:r>
              <a:rPr lang="en-US" sz="1100">
                <a:solidFill>
                  <a:srgbClr val="CADCFC"/>
                </a:solidFill>
                <a:latin typeface="Calibri"/>
                <a:ea typeface="Calibri"/>
                <a:cs typeface="Calibri"/>
                <a:sym typeface="Calibri"/>
              </a:rPr>
              <a:t>código</a:t>
            </a:r>
            <a:r>
              <a:rPr lang="en-US" sz="1100">
                <a:solidFill>
                  <a:srgbClr val="CADCFC"/>
                </a:solidFill>
                <a:latin typeface="Calibri"/>
                <a:ea typeface="Calibri"/>
                <a:cs typeface="Calibri"/>
                <a:sym typeface="Calibri"/>
              </a:rPr>
              <a:t>.</a:t>
            </a:r>
            <a:endParaRPr sz="1100">
              <a:solidFill>
                <a:schemeClr val="dk1"/>
              </a:solidFill>
              <a:latin typeface="Calibri"/>
              <a:ea typeface="Calibri"/>
              <a:cs typeface="Calibri"/>
              <a:sym typeface="Calibri"/>
            </a:endParaRPr>
          </a:p>
        </p:txBody>
      </p:sp>
      <p:cxnSp>
        <p:nvCxnSpPr>
          <p:cNvPr id="270" name="Google Shape;270;p10"/>
          <p:cNvCxnSpPr/>
          <p:nvPr/>
        </p:nvCxnSpPr>
        <p:spPr>
          <a:xfrm>
            <a:off x="365760" y="4937760"/>
            <a:ext cx="8412480" cy="0"/>
          </a:xfrm>
          <a:prstGeom prst="straightConnector1">
            <a:avLst/>
          </a:prstGeom>
          <a:noFill/>
          <a:ln cap="flat" cmpd="sng" w="10150">
            <a:solidFill>
              <a:srgbClr val="028090"/>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2026-05-05T05:20:17Z</dcterms:created>
  <dc:creator>PptxGenJS</dc:creator>
</cp:coreProperties>
</file>